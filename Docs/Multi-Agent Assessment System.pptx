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handoutMasterIdLst>
    <p:handoutMasterId r:id="rId27"/>
  </p:handoutMasterIdLst>
  <p:sldIdLst>
    <p:sldId id="317" r:id="rId5"/>
    <p:sldId id="307" r:id="rId6"/>
    <p:sldId id="308" r:id="rId7"/>
    <p:sldId id="278" r:id="rId8"/>
    <p:sldId id="309" r:id="rId9"/>
    <p:sldId id="323" r:id="rId10"/>
    <p:sldId id="324" r:id="rId11"/>
    <p:sldId id="311" r:id="rId12"/>
    <p:sldId id="319" r:id="rId13"/>
    <p:sldId id="312" r:id="rId14"/>
    <p:sldId id="320" r:id="rId15"/>
    <p:sldId id="318" r:id="rId16"/>
    <p:sldId id="325" r:id="rId17"/>
    <p:sldId id="326" r:id="rId18"/>
    <p:sldId id="327" r:id="rId19"/>
    <p:sldId id="328" r:id="rId20"/>
    <p:sldId id="316" r:id="rId21"/>
    <p:sldId id="321" r:id="rId22"/>
    <p:sldId id="314" r:id="rId23"/>
    <p:sldId id="315" r:id="rId24"/>
    <p:sldId id="30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4ED"/>
    <a:srgbClr val="636A58"/>
    <a:srgbClr val="505A47"/>
    <a:srgbClr val="D1D8B7"/>
    <a:srgbClr val="A09D79"/>
    <a:srgbClr val="AD5C4D"/>
    <a:srgbClr val="543E35"/>
    <a:srgbClr val="637700"/>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AD96F1-522D-43D8-B0CB-B824FFD04CB6}" v="5" dt="2026-09-27T10:06:31.740"/>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5405" autoAdjust="0"/>
  </p:normalViewPr>
  <p:slideViewPr>
    <p:cSldViewPr snapToGrid="0">
      <p:cViewPr varScale="1">
        <p:scale>
          <a:sx n="70" d="100"/>
          <a:sy n="70" d="100"/>
        </p:scale>
        <p:origin x="576"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ENA SHARMA" userId="92943bcc7c3b7eff" providerId="LiveId" clId="{D68E3F60-F91E-4D8B-9366-AD722B43C905}"/>
    <pc:docChg chg="modSld">
      <pc:chgData name="TEENA SHARMA" userId="92943bcc7c3b7eff" providerId="LiveId" clId="{D68E3F60-F91E-4D8B-9366-AD722B43C905}" dt="2026-09-27T10:06:34.343" v="35" actId="1076"/>
      <pc:docMkLst>
        <pc:docMk/>
      </pc:docMkLst>
      <pc:sldChg chg="addSp delSp modSp mod">
        <pc:chgData name="TEENA SHARMA" userId="92943bcc7c3b7eff" providerId="LiveId" clId="{D68E3F60-F91E-4D8B-9366-AD722B43C905}" dt="2026-09-27T10:06:34.343" v="35" actId="1076"/>
        <pc:sldMkLst>
          <pc:docMk/>
          <pc:sldMk cId="520000563" sldId="278"/>
        </pc:sldMkLst>
        <pc:spChg chg="mod">
          <ac:chgData name="TEENA SHARMA" userId="92943bcc7c3b7eff" providerId="LiveId" clId="{D68E3F60-F91E-4D8B-9366-AD722B43C905}" dt="2026-09-27T10:05:43.334" v="28"/>
          <ac:spMkLst>
            <pc:docMk/>
            <pc:sldMk cId="520000563" sldId="278"/>
            <ac:spMk id="12" creationId="{8C1B3F99-8B36-41DE-753B-D49BE6B9B590}"/>
          </ac:spMkLst>
        </pc:spChg>
        <pc:picChg chg="add mod">
          <ac:chgData name="TEENA SHARMA" userId="92943bcc7c3b7eff" providerId="LiveId" clId="{D68E3F60-F91E-4D8B-9366-AD722B43C905}" dt="2026-09-27T10:06:34.343" v="35" actId="1076"/>
          <ac:picMkLst>
            <pc:docMk/>
            <pc:sldMk cId="520000563" sldId="278"/>
            <ac:picMk id="2" creationId="{BF3D8670-67B7-92BF-7A63-7783D8C3920A}"/>
          </ac:picMkLst>
        </pc:picChg>
        <pc:picChg chg="del">
          <ac:chgData name="TEENA SHARMA" userId="92943bcc7c3b7eff" providerId="LiveId" clId="{D68E3F60-F91E-4D8B-9366-AD722B43C905}" dt="2026-09-27T10:04:35.804" v="5" actId="478"/>
          <ac:picMkLst>
            <pc:docMk/>
            <pc:sldMk cId="520000563" sldId="278"/>
            <ac:picMk id="2058" creationId="{2D5F79B7-6424-3881-B6F3-33AA19A7D6B4}"/>
          </ac:picMkLst>
        </pc:picChg>
        <pc:picChg chg="mod">
          <ac:chgData name="TEENA SHARMA" userId="92943bcc7c3b7eff" providerId="LiveId" clId="{D68E3F60-F91E-4D8B-9366-AD722B43C905}" dt="2026-09-27T10:06:31.740" v="34" actId="1076"/>
          <ac:picMkLst>
            <pc:docMk/>
            <pc:sldMk cId="520000563" sldId="278"/>
            <ac:picMk id="2068" creationId="{DBE2E070-47BD-2406-4598-CBE695C7B45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9/27/2026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9/27/2026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6E648-B44B-CBCE-1DCA-D38C55B1E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4DB957-49EB-2263-CC24-230BD2B5221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051300A-0FBA-134E-9FCF-4BE1910E02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82B14B-1E36-AB1C-DF99-6D08B2A962CA}"/>
              </a:ext>
            </a:extLst>
          </p:cNvPr>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3251343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A6EB-52F0-58B9-9E15-F97BE0C7A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ED0F8-EA0A-8EAE-8A4D-79F42C02190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DF6ECCE-F422-C51C-8151-792204A383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63589F-97EB-2136-A864-17C2280F1CDC}"/>
              </a:ext>
            </a:extLst>
          </p:cNvPr>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84018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EF72-1FF8-8DA0-FCDB-7FDF62EE0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AABC8-9298-8DC4-7EF5-4D6231AAB2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5DAE68B-E36B-9507-22D3-988AA2C023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84DE2D-0AEA-560D-6D24-B4CC97008CC4}"/>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801341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0A081-274F-AEFD-1F1D-CA68FD63F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C45F9-49DC-A006-B744-E027CDC680A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1AF8A82-878E-72F3-08A9-927952E68C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5C6144-3A50-72C2-5828-CDB3DA67F642}"/>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2620613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CF87E-E178-43C9-D48E-A1CCC5620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7CBE8-B73A-0BBC-24A4-A1170A8D4FA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ED7EAC1-4D4B-F2B8-AF59-FA1DAE5E9A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A9A9EF-FE1B-6E71-29CC-E2833090EBBB}"/>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4000384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4A51C-98C5-4D69-983A-FE9B23AA5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610B1-994C-728D-F9AD-91D5C2458AD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5377E83-05A2-A347-90F7-B42E39298B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821E86-E22C-A542-8BFF-02C9482F8720}"/>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9379475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F621F-2BE8-F299-9602-2C9080206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71A7C-C921-F4AD-99F8-CCFBD7315EF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9083E64-65B3-1604-EBD2-CCA9E2D33B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F9AB74-E0D6-E70C-B40E-38A438589BCC}"/>
              </a:ext>
            </a:extLst>
          </p:cNvPr>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3991011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0279D-1138-59A3-A475-99BF5FA0E8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05AFD3-6D11-0A39-16A4-CC46010B846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6E8F6C5-7293-FF2B-DACE-1FDCBD18DC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21A0BD-9221-4A59-544F-B899B67A78C0}"/>
              </a:ext>
            </a:extLst>
          </p:cNvPr>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2299148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A8E6D-2F67-34B5-81B7-7006BC9EF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DEAAAD-39F6-5D70-7B16-649CEF3D20B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7CD1469-6A9C-1F52-5241-27073529BC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7BF74-7BB7-E5D6-A7D9-26874FA1D822}"/>
              </a:ext>
            </a:extLst>
          </p:cNvPr>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3684884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jpg"/><Relationship Id="rId4" Type="http://schemas.openxmlformats.org/officeDocument/2006/relationships/image" Target="../media/image5.jpeg"/><Relationship Id="rId9"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127.0.0.1:5000/" TargetMode="External"/><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hyperlink" Target="https://ai.google.dev/"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hyperlink" Target="https://openpyxl.readthedocs.io/" TargetMode="External"/><Relationship Id="rId4" Type="http://schemas.openxmlformats.org/officeDocument/2006/relationships/hyperlink" Target="https://flask.palletsprojects.com/"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pic>
        <p:nvPicPr>
          <p:cNvPr id="2" name="Picture Placeholder 7">
            <a:extLst>
              <a:ext uri="{FF2B5EF4-FFF2-40B4-BE49-F238E27FC236}">
                <a16:creationId xmlns:a16="http://schemas.microsoft.com/office/drawing/2014/main" id="{D71E2001-3E62-4788-F069-13188940B790}"/>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a:fillRect/>
          </a:stretch>
        </p:blipFill>
        <p:spPr>
          <a:xfrm>
            <a:off x="5083086" y="0"/>
            <a:ext cx="2025825" cy="2025825"/>
          </a:xfrm>
          <a:custGeom>
            <a:avLst/>
            <a:gdLst>
              <a:gd name="connsiteX0" fmla="*/ 1693742 w 3387484"/>
              <a:gd name="connsiteY0" fmla="*/ 0 h 3387484"/>
              <a:gd name="connsiteX1" fmla="*/ 3387484 w 3387484"/>
              <a:gd name="connsiteY1" fmla="*/ 1693742 h 3387484"/>
              <a:gd name="connsiteX2" fmla="*/ 1693742 w 3387484"/>
              <a:gd name="connsiteY2" fmla="*/ 3387484 h 3387484"/>
              <a:gd name="connsiteX3" fmla="*/ 0 w 3387484"/>
              <a:gd name="connsiteY3" fmla="*/ 1693742 h 3387484"/>
              <a:gd name="connsiteX4" fmla="*/ 1693742 w 3387484"/>
              <a:gd name="connsiteY4" fmla="*/ 0 h 3387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7484" h="3387484">
                <a:moveTo>
                  <a:pt x="1693742" y="0"/>
                </a:moveTo>
                <a:cubicBezTo>
                  <a:pt x="2629170" y="0"/>
                  <a:pt x="3387484" y="758314"/>
                  <a:pt x="3387484" y="1693742"/>
                </a:cubicBezTo>
                <a:cubicBezTo>
                  <a:pt x="3387484" y="2629170"/>
                  <a:pt x="2629170" y="3387484"/>
                  <a:pt x="1693742" y="3387484"/>
                </a:cubicBezTo>
                <a:cubicBezTo>
                  <a:pt x="758314" y="3387484"/>
                  <a:pt x="0" y="2629170"/>
                  <a:pt x="0" y="1693742"/>
                </a:cubicBezTo>
                <a:cubicBezTo>
                  <a:pt x="0" y="758314"/>
                  <a:pt x="758314" y="0"/>
                  <a:pt x="1693742" y="0"/>
                </a:cubicBezTo>
                <a:close/>
              </a:path>
            </a:pathLst>
          </a:custGeom>
        </p:spPr>
      </p:pic>
      <p:sp>
        <p:nvSpPr>
          <p:cNvPr id="4" name="TextBox 3">
            <a:extLst>
              <a:ext uri="{FF2B5EF4-FFF2-40B4-BE49-F238E27FC236}">
                <a16:creationId xmlns:a16="http://schemas.microsoft.com/office/drawing/2014/main" id="{2F44DDA9-4084-33B2-F76E-A600EC04A1C4}"/>
              </a:ext>
            </a:extLst>
          </p:cNvPr>
          <p:cNvSpPr txBox="1"/>
          <p:nvPr/>
        </p:nvSpPr>
        <p:spPr>
          <a:xfrm>
            <a:off x="164592" y="2326557"/>
            <a:ext cx="11951208" cy="347787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IIS (Deemed to be University), Jaipur</a:t>
            </a:r>
          </a:p>
          <a:p>
            <a:pPr algn="ctr"/>
            <a:endParaRPr lang="en-US" sz="2400" b="1" dirty="0">
              <a:latin typeface="Times New Roman" panose="02020603050405020304" pitchFamily="18" charset="0"/>
              <a:cs typeface="Times New Roman" panose="02020603050405020304" pitchFamily="18" charset="0"/>
            </a:endParaRPr>
          </a:p>
          <a:p>
            <a:pPr algn="ctr"/>
            <a:r>
              <a:rPr lang="en-IN" sz="2800" b="1" dirty="0">
                <a:latin typeface="Times New Roman" panose="02020603050405020304" pitchFamily="18" charset="0"/>
                <a:cs typeface="Times New Roman" panose="02020603050405020304" pitchFamily="18" charset="0"/>
              </a:rPr>
              <a:t>Multi-Agent AI Assessment System</a:t>
            </a:r>
          </a:p>
          <a:p>
            <a:pPr algn="ctr"/>
            <a:r>
              <a:rPr lang="en-US" sz="2400" b="1" dirty="0">
                <a:latin typeface="Times New Roman" panose="02020603050405020304" pitchFamily="18" charset="0"/>
                <a:cs typeface="Times New Roman" panose="02020603050405020304" pitchFamily="18" charset="0"/>
              </a:rPr>
              <a:t>B.Sc.(H) in Data Analytics and Artificial Intelligence</a:t>
            </a:r>
          </a:p>
          <a:p>
            <a:pPr algn="r"/>
            <a:endParaRPr lang="en-US" sz="2400" b="1" dirty="0">
              <a:latin typeface="Times New Roman" panose="02020603050405020304" pitchFamily="18" charset="0"/>
              <a:cs typeface="Times New Roman" panose="02020603050405020304" pitchFamily="18" charset="0"/>
            </a:endParaRPr>
          </a:p>
          <a:p>
            <a:pPr algn="r"/>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38DC2BE2-1CCA-4E1A-2296-CD1B8D11A6C4}"/>
              </a:ext>
            </a:extLst>
          </p:cNvPr>
          <p:cNvGraphicFramePr>
            <a:graphicFrameLocks noGrp="1"/>
          </p:cNvGraphicFramePr>
          <p:nvPr>
            <p:extLst>
              <p:ext uri="{D42A27DB-BD31-4B8C-83A1-F6EECF244321}">
                <p14:modId xmlns:p14="http://schemas.microsoft.com/office/powerpoint/2010/main" val="2732797606"/>
              </p:ext>
            </p:extLst>
          </p:nvPr>
        </p:nvGraphicFramePr>
        <p:xfrm>
          <a:off x="82296" y="4458687"/>
          <a:ext cx="12115800" cy="3675459"/>
        </p:xfrm>
        <a:graphic>
          <a:graphicData uri="http://schemas.openxmlformats.org/drawingml/2006/table">
            <a:tbl>
              <a:tblPr firstRow="1" firstCol="1" lastRow="1" lastCol="1" bandRow="1" bandCol="1">
                <a:tableStyleId>{2D5ABB26-0587-4C30-8999-92F81FD0307C}</a:tableStyleId>
              </a:tblPr>
              <a:tblGrid>
                <a:gridCol w="5243828">
                  <a:extLst>
                    <a:ext uri="{9D8B030D-6E8A-4147-A177-3AD203B41FA5}">
                      <a16:colId xmlns:a16="http://schemas.microsoft.com/office/drawing/2014/main" val="2087588256"/>
                    </a:ext>
                  </a:extLst>
                </a:gridCol>
                <a:gridCol w="6871972">
                  <a:extLst>
                    <a:ext uri="{9D8B030D-6E8A-4147-A177-3AD203B41FA5}">
                      <a16:colId xmlns:a16="http://schemas.microsoft.com/office/drawing/2014/main" val="3415793997"/>
                    </a:ext>
                  </a:extLst>
                </a:gridCol>
              </a:tblGrid>
              <a:tr h="3675459">
                <a:tc>
                  <a:txBody>
                    <a:bodyPr/>
                    <a:lstStyle/>
                    <a:p>
                      <a:pPr marL="31750">
                        <a:lnSpc>
                          <a:spcPts val="1540"/>
                        </a:lnSpc>
                        <a:buNone/>
                      </a:pPr>
                      <a:endParaRPr lang="en-US" sz="2400" b="1" dirty="0">
                        <a:effectLst/>
                        <a:latin typeface="Times New Roman" panose="02020603050405020304" pitchFamily="18" charset="0"/>
                        <a:cs typeface="Times New Roman" panose="02020603050405020304" pitchFamily="18" charset="0"/>
                      </a:endParaRPr>
                    </a:p>
                    <a:p>
                      <a:pPr marL="31750">
                        <a:lnSpc>
                          <a:spcPts val="1540"/>
                        </a:lnSpc>
                        <a:buNone/>
                      </a:pPr>
                      <a:endParaRPr lang="en-US" sz="2400" b="1" dirty="0">
                        <a:effectLst/>
                        <a:latin typeface="Times New Roman" panose="02020603050405020304" pitchFamily="18" charset="0"/>
                        <a:cs typeface="Times New Roman" panose="02020603050405020304" pitchFamily="18" charset="0"/>
                      </a:endParaRPr>
                    </a:p>
                    <a:p>
                      <a:pPr marL="31750">
                        <a:lnSpc>
                          <a:spcPts val="1540"/>
                        </a:lnSpc>
                        <a:buNone/>
                      </a:pPr>
                      <a:r>
                        <a:rPr lang="en-US" sz="2400" b="1" dirty="0">
                          <a:effectLst/>
                          <a:latin typeface="Times New Roman" panose="02020603050405020304" pitchFamily="18" charset="0"/>
                          <a:cs typeface="Times New Roman" panose="02020603050405020304" pitchFamily="18" charset="0"/>
                        </a:rPr>
                        <a:t>Submitted</a:t>
                      </a:r>
                      <a:r>
                        <a:rPr lang="en-US" sz="2400" b="1" spc="-55" dirty="0">
                          <a:effectLst/>
                          <a:latin typeface="Times New Roman" panose="02020603050405020304" pitchFamily="18" charset="0"/>
                          <a:cs typeface="Times New Roman" panose="02020603050405020304" pitchFamily="18" charset="0"/>
                        </a:rPr>
                        <a:t> </a:t>
                      </a:r>
                      <a:r>
                        <a:rPr lang="en-US" sz="2400" b="1" spc="-25" dirty="0">
                          <a:effectLst/>
                          <a:latin typeface="Times New Roman" panose="02020603050405020304" pitchFamily="18" charset="0"/>
                          <a:cs typeface="Times New Roman" panose="02020603050405020304" pitchFamily="18" charset="0"/>
                        </a:rPr>
                        <a:t>to:</a:t>
                      </a:r>
                    </a:p>
                    <a:p>
                      <a:pPr marL="31750">
                        <a:lnSpc>
                          <a:spcPts val="1540"/>
                        </a:lnSpc>
                        <a:buNone/>
                      </a:pPr>
                      <a:endParaRPr lang="en-IN" sz="1800" b="1" dirty="0">
                        <a:effectLst/>
                        <a:latin typeface="Times New Roman" panose="02020603050405020304" pitchFamily="18" charset="0"/>
                        <a:cs typeface="Times New Roman" panose="02020603050405020304" pitchFamily="18" charset="0"/>
                      </a:endParaRPr>
                    </a:p>
                    <a:p>
                      <a:pPr marL="31750" marR="923290">
                        <a:lnSpc>
                          <a:spcPts val="1340"/>
                        </a:lnSpc>
                        <a:buNone/>
                      </a:pPr>
                      <a:r>
                        <a:rPr lang="en-US" sz="2400" b="1" spc="-10" dirty="0">
                          <a:effectLst/>
                          <a:latin typeface="Times New Roman" panose="02020603050405020304" pitchFamily="18" charset="0"/>
                          <a:cs typeface="Times New Roman" panose="02020603050405020304" pitchFamily="18" charset="0"/>
                        </a:rPr>
                        <a:t>Dr.</a:t>
                      </a:r>
                      <a:r>
                        <a:rPr lang="en-US" sz="2400" b="1" spc="-80" dirty="0">
                          <a:effectLst/>
                          <a:latin typeface="Times New Roman" panose="02020603050405020304" pitchFamily="18" charset="0"/>
                          <a:cs typeface="Times New Roman" panose="02020603050405020304" pitchFamily="18" charset="0"/>
                        </a:rPr>
                        <a:t> Ruchi Nanda </a:t>
                      </a:r>
                      <a:endParaRPr lang="en-US" sz="2400" b="1" dirty="0">
                        <a:effectLst/>
                        <a:latin typeface="Times New Roman" panose="02020603050405020304" pitchFamily="18" charset="0"/>
                        <a:cs typeface="Times New Roman" panose="02020603050405020304" pitchFamily="18" charset="0"/>
                      </a:endParaRPr>
                    </a:p>
                    <a:p>
                      <a:pPr marL="31750" marR="923290">
                        <a:lnSpc>
                          <a:spcPts val="1340"/>
                        </a:lnSpc>
                        <a:buNone/>
                      </a:pPr>
                      <a:endParaRPr lang="en-IN" sz="1800" b="1" dirty="0">
                        <a:effectLst/>
                        <a:latin typeface="Times New Roman" panose="02020603050405020304" pitchFamily="18" charset="0"/>
                        <a:cs typeface="Times New Roman" panose="02020603050405020304" pitchFamily="18" charset="0"/>
                      </a:endParaRPr>
                    </a:p>
                    <a:p>
                      <a:pPr marL="31750">
                        <a:lnSpc>
                          <a:spcPts val="1610"/>
                        </a:lnSpc>
                        <a:buNone/>
                      </a:pPr>
                      <a:r>
                        <a:rPr lang="en-US" sz="2400" b="1" dirty="0">
                          <a:effectLst/>
                          <a:latin typeface="Times New Roman" panose="02020603050405020304" pitchFamily="18" charset="0"/>
                          <a:cs typeface="Times New Roman" panose="02020603050405020304" pitchFamily="18" charset="0"/>
                        </a:rPr>
                        <a:t>Assistant</a:t>
                      </a:r>
                      <a:r>
                        <a:rPr lang="en-US" sz="2400" b="1" spc="-90" dirty="0">
                          <a:effectLst/>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Professor</a:t>
                      </a:r>
                      <a:r>
                        <a:rPr lang="en-US" sz="2400" b="1" spc="-85" dirty="0">
                          <a:effectLst/>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(SG) </a:t>
                      </a:r>
                    </a:p>
                    <a:p>
                      <a:pPr marL="31750">
                        <a:lnSpc>
                          <a:spcPts val="1610"/>
                        </a:lnSpc>
                        <a:buNone/>
                      </a:pPr>
                      <a:endParaRPr lang="en-US" sz="2400" b="1" dirty="0">
                        <a:effectLst/>
                        <a:latin typeface="Times New Roman" panose="02020603050405020304" pitchFamily="18" charset="0"/>
                        <a:cs typeface="Times New Roman" panose="02020603050405020304" pitchFamily="18" charset="0"/>
                      </a:endParaRPr>
                    </a:p>
                    <a:p>
                      <a:pPr marL="31750">
                        <a:lnSpc>
                          <a:spcPts val="1610"/>
                        </a:lnSpc>
                        <a:buNone/>
                      </a:pPr>
                      <a:r>
                        <a:rPr lang="en-US" sz="2400" b="1" dirty="0">
                          <a:effectLst/>
                          <a:latin typeface="Times New Roman" panose="02020603050405020304" pitchFamily="18" charset="0"/>
                          <a:cs typeface="Times New Roman" panose="02020603050405020304" pitchFamily="18" charset="0"/>
                        </a:rPr>
                        <a:t>Department of CS&amp;IT</a:t>
                      </a:r>
                      <a:endPar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851025" marR="29845" indent="320040" algn="r">
                        <a:lnSpc>
                          <a:spcPts val="1340"/>
                        </a:lnSpc>
                        <a:buNone/>
                      </a:pPr>
                      <a:endParaRPr lang="en-US" sz="2400" b="1" dirty="0">
                        <a:effectLst/>
                        <a:latin typeface="Times New Roman" panose="02020603050405020304" pitchFamily="18" charset="0"/>
                        <a:cs typeface="Times New Roman" panose="02020603050405020304" pitchFamily="18" charset="0"/>
                      </a:endParaRPr>
                    </a:p>
                    <a:p>
                      <a:pPr marL="1851025" marR="29845" indent="320040" algn="r">
                        <a:lnSpc>
                          <a:spcPts val="1340"/>
                        </a:lnSpc>
                        <a:buNone/>
                      </a:pPr>
                      <a:endParaRPr lang="en-US" sz="2400" b="1" dirty="0">
                        <a:effectLst/>
                        <a:latin typeface="Times New Roman" panose="02020603050405020304" pitchFamily="18" charset="0"/>
                        <a:cs typeface="Times New Roman" panose="02020603050405020304" pitchFamily="18" charset="0"/>
                      </a:endParaRPr>
                    </a:p>
                    <a:p>
                      <a:pPr marL="1851025" marR="29845" indent="320040" algn="r">
                        <a:lnSpc>
                          <a:spcPts val="1340"/>
                        </a:lnSpc>
                        <a:buNone/>
                      </a:pPr>
                      <a:r>
                        <a:rPr lang="en-US" sz="2400" b="1" dirty="0">
                          <a:effectLst/>
                          <a:latin typeface="Times New Roman" panose="02020603050405020304" pitchFamily="18" charset="0"/>
                          <a:cs typeface="Times New Roman" panose="02020603050405020304" pitchFamily="18" charset="0"/>
                        </a:rPr>
                        <a:t>Submitted</a:t>
                      </a:r>
                      <a:r>
                        <a:rPr lang="en-US" sz="2400" b="1" spc="-90" dirty="0">
                          <a:effectLst/>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by:</a:t>
                      </a:r>
                    </a:p>
                    <a:p>
                      <a:pPr marL="1851025" marR="29845" indent="320040" algn="r">
                        <a:lnSpc>
                          <a:spcPts val="1340"/>
                        </a:lnSpc>
                        <a:buNone/>
                      </a:pPr>
                      <a:r>
                        <a:rPr lang="en-US" sz="2400" b="1" dirty="0">
                          <a:effectLst/>
                          <a:latin typeface="Times New Roman" panose="02020603050405020304" pitchFamily="18" charset="0"/>
                          <a:cs typeface="Times New Roman" panose="02020603050405020304" pitchFamily="18" charset="0"/>
                        </a:rPr>
                        <a:t> </a:t>
                      </a:r>
                    </a:p>
                    <a:p>
                      <a:pPr marL="1851025" marR="29845" indent="320040" algn="r">
                        <a:lnSpc>
                          <a:spcPts val="1340"/>
                        </a:lnSpc>
                        <a:buNone/>
                      </a:pPr>
                      <a:r>
                        <a:rPr lang="en-US" sz="2400" b="1" dirty="0">
                          <a:effectLst/>
                          <a:latin typeface="Times New Roman" panose="02020603050405020304" pitchFamily="18" charset="0"/>
                          <a:cs typeface="Times New Roman" panose="02020603050405020304" pitchFamily="18" charset="0"/>
                        </a:rPr>
                        <a:t>Ms.</a:t>
                      </a:r>
                      <a:r>
                        <a:rPr lang="en-US" sz="2400" b="1" spc="-90" dirty="0">
                          <a:effectLst/>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Teena</a:t>
                      </a:r>
                      <a:r>
                        <a:rPr lang="en-US" sz="2400" b="1" spc="-75" dirty="0">
                          <a:effectLst/>
                          <a:latin typeface="Times New Roman" panose="02020603050405020304" pitchFamily="18" charset="0"/>
                          <a:cs typeface="Times New Roman" panose="02020603050405020304" pitchFamily="18" charset="0"/>
                        </a:rPr>
                        <a:t> </a:t>
                      </a:r>
                      <a:r>
                        <a:rPr lang="en-US" sz="2400" b="1" spc="-10" dirty="0">
                          <a:effectLst/>
                          <a:latin typeface="Times New Roman" panose="02020603050405020304" pitchFamily="18" charset="0"/>
                          <a:cs typeface="Times New Roman" panose="02020603050405020304" pitchFamily="18" charset="0"/>
                        </a:rPr>
                        <a:t>Sharma</a:t>
                      </a:r>
                    </a:p>
                    <a:p>
                      <a:pPr marL="1851025" marR="29845" indent="320040" algn="r">
                        <a:lnSpc>
                          <a:spcPts val="1340"/>
                        </a:lnSpc>
                        <a:buNone/>
                      </a:pPr>
                      <a:endParaRPr lang="en-IN" sz="1800" b="1" dirty="0">
                        <a:effectLst/>
                        <a:latin typeface="Times New Roman" panose="02020603050405020304" pitchFamily="18" charset="0"/>
                        <a:cs typeface="Times New Roman" panose="02020603050405020304" pitchFamily="18" charset="0"/>
                      </a:endParaRPr>
                    </a:p>
                    <a:p>
                      <a:pPr marL="69850" marR="32385" algn="r">
                        <a:lnSpc>
                          <a:spcPts val="1605"/>
                        </a:lnSpc>
                        <a:buNone/>
                      </a:pPr>
                      <a:r>
                        <a:rPr lang="en-US" sz="2400" b="1" dirty="0">
                          <a:effectLst/>
                          <a:latin typeface="Times New Roman" panose="02020603050405020304" pitchFamily="18" charset="0"/>
                          <a:cs typeface="Times New Roman" panose="02020603050405020304" pitchFamily="18" charset="0"/>
                        </a:rPr>
                        <a:t>Enroll</a:t>
                      </a:r>
                      <a:r>
                        <a:rPr lang="en-US" sz="2400" b="1" spc="-30" dirty="0">
                          <a:effectLst/>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no.:</a:t>
                      </a:r>
                      <a:r>
                        <a:rPr lang="en-US" sz="2400" b="1" spc="-45" dirty="0">
                          <a:effectLst/>
                          <a:latin typeface="Times New Roman" panose="02020603050405020304" pitchFamily="18" charset="0"/>
                          <a:cs typeface="Times New Roman" panose="02020603050405020304" pitchFamily="18" charset="0"/>
                        </a:rPr>
                        <a:t> </a:t>
                      </a:r>
                      <a:r>
                        <a:rPr lang="en-US" sz="2400" b="1" spc="-10" dirty="0">
                          <a:effectLst/>
                          <a:latin typeface="Times New Roman" panose="02020603050405020304" pitchFamily="18" charset="0"/>
                          <a:cs typeface="Times New Roman" panose="02020603050405020304" pitchFamily="18" charset="0"/>
                        </a:rPr>
                        <a:t>IISU/2023/ADM/35803</a:t>
                      </a:r>
                    </a:p>
                    <a:p>
                      <a:pPr marL="69850" marR="32385" algn="r">
                        <a:lnSpc>
                          <a:spcPts val="1605"/>
                        </a:lnSpc>
                        <a:buNone/>
                      </a:pPr>
                      <a:endParaRPr lang="en-IN" sz="1800" b="1" dirty="0">
                        <a:effectLst/>
                        <a:latin typeface="Times New Roman" panose="02020603050405020304" pitchFamily="18" charset="0"/>
                        <a:cs typeface="Times New Roman" panose="02020603050405020304" pitchFamily="18" charset="0"/>
                      </a:endParaRPr>
                    </a:p>
                    <a:p>
                      <a:pPr marL="69850" marR="32385" algn="r">
                        <a:lnSpc>
                          <a:spcPts val="1340"/>
                        </a:lnSpc>
                        <a:buNone/>
                      </a:pPr>
                      <a:r>
                        <a:rPr lang="en-US" sz="2400" b="1" dirty="0">
                          <a:effectLst/>
                          <a:latin typeface="Times New Roman" panose="02020603050405020304" pitchFamily="18" charset="0"/>
                          <a:cs typeface="Times New Roman" panose="02020603050405020304" pitchFamily="18" charset="0"/>
                        </a:rPr>
                        <a:t>Roll</a:t>
                      </a:r>
                      <a:r>
                        <a:rPr lang="en-US" sz="2400" b="1" spc="-20" dirty="0">
                          <a:effectLst/>
                          <a:latin typeface="Times New Roman" panose="02020603050405020304" pitchFamily="18" charset="0"/>
                          <a:cs typeface="Times New Roman" panose="02020603050405020304" pitchFamily="18" charset="0"/>
                        </a:rPr>
                        <a:t> </a:t>
                      </a:r>
                      <a:r>
                        <a:rPr lang="en-US" sz="2400" b="1" spc="-10" dirty="0">
                          <a:effectLst/>
                          <a:latin typeface="Times New Roman" panose="02020603050405020304" pitchFamily="18" charset="0"/>
                          <a:cs typeface="Times New Roman" panose="02020603050405020304" pitchFamily="18" charset="0"/>
                        </a:rPr>
                        <a:t>no.232025</a:t>
                      </a:r>
                      <a:endPar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99775352"/>
                  </a:ext>
                </a:extLst>
              </a:tr>
            </a:tbl>
          </a:graphicData>
        </a:graphic>
      </p:graphicFrame>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879290" y="585398"/>
            <a:ext cx="8791757" cy="786384"/>
          </a:xfrm>
        </p:spPr>
        <p:txBody>
          <a:bodyPr/>
          <a:lstStyle/>
          <a:p>
            <a:pPr algn="ctr"/>
            <a:r>
              <a:rPr lang="en-IN" sz="4400" b="1" spc="-45" dirty="0">
                <a:solidFill>
                  <a:srgbClr val="000000"/>
                </a:solidFill>
                <a:latin typeface="Times New Roman" panose="02020603050405020304" pitchFamily="18" charset="0"/>
                <a:cs typeface="Times New Roman" panose="02020603050405020304" pitchFamily="18" charset="0"/>
              </a:rPr>
              <a:t>PROBLEM</a:t>
            </a:r>
            <a:r>
              <a:rPr lang="en-IN" sz="4400" b="1" spc="-325" dirty="0">
                <a:solidFill>
                  <a:srgbClr val="000000"/>
                </a:solidFill>
                <a:latin typeface="Times New Roman" panose="02020603050405020304" pitchFamily="18" charset="0"/>
                <a:cs typeface="Times New Roman" panose="02020603050405020304" pitchFamily="18" charset="0"/>
              </a:rPr>
              <a:t>  </a:t>
            </a:r>
            <a:r>
              <a:rPr lang="en-IN" sz="4400" b="1" spc="-55" dirty="0">
                <a:solidFill>
                  <a:srgbClr val="000000"/>
                </a:solidFill>
                <a:latin typeface="Times New Roman" panose="02020603050405020304" pitchFamily="18" charset="0"/>
                <a:cs typeface="Times New Roman" panose="02020603050405020304" pitchFamily="18" charset="0"/>
              </a:rPr>
              <a:t>S</a:t>
            </a:r>
            <a:r>
              <a:rPr lang="en-IN" sz="4400" b="1" spc="-525" dirty="0">
                <a:solidFill>
                  <a:srgbClr val="000000"/>
                </a:solidFill>
                <a:latin typeface="Times New Roman" panose="02020603050405020304" pitchFamily="18" charset="0"/>
                <a:cs typeface="Times New Roman" panose="02020603050405020304" pitchFamily="18" charset="0"/>
              </a:rPr>
              <a:t>T</a:t>
            </a:r>
            <a:r>
              <a:rPr lang="en-IN" sz="4400" b="1" spc="-580" dirty="0">
                <a:solidFill>
                  <a:srgbClr val="000000"/>
                </a:solidFill>
                <a:latin typeface="Times New Roman" panose="02020603050405020304" pitchFamily="18" charset="0"/>
                <a:cs typeface="Times New Roman" panose="02020603050405020304" pitchFamily="18" charset="0"/>
              </a:rPr>
              <a:t>A</a:t>
            </a:r>
            <a:r>
              <a:rPr lang="en-IN" sz="4400" b="1" spc="-60" dirty="0">
                <a:solidFill>
                  <a:srgbClr val="000000"/>
                </a:solidFill>
                <a:latin typeface="Times New Roman" panose="02020603050405020304" pitchFamily="18" charset="0"/>
                <a:cs typeface="Times New Roman" panose="02020603050405020304" pitchFamily="18" charset="0"/>
              </a:rPr>
              <a:t>T</a:t>
            </a:r>
            <a:r>
              <a:rPr lang="en-IN" sz="4400" b="1" spc="-50" dirty="0">
                <a:solidFill>
                  <a:srgbClr val="000000"/>
                </a:solidFill>
                <a:latin typeface="Times New Roman" panose="02020603050405020304" pitchFamily="18" charset="0"/>
                <a:cs typeface="Times New Roman" panose="02020603050405020304" pitchFamily="18" charset="0"/>
              </a:rPr>
              <a:t>E</a:t>
            </a:r>
            <a:r>
              <a:rPr lang="en-IN" sz="4400" b="1" spc="-95" dirty="0">
                <a:solidFill>
                  <a:srgbClr val="000000"/>
                </a:solidFill>
                <a:latin typeface="Times New Roman" panose="02020603050405020304" pitchFamily="18" charset="0"/>
                <a:cs typeface="Times New Roman" panose="02020603050405020304" pitchFamily="18" charset="0"/>
              </a:rPr>
              <a:t>M</a:t>
            </a:r>
            <a:r>
              <a:rPr lang="en-IN" sz="4400" b="1" spc="-50" dirty="0">
                <a:solidFill>
                  <a:srgbClr val="000000"/>
                </a:solidFill>
                <a:latin typeface="Times New Roman" panose="02020603050405020304" pitchFamily="18" charset="0"/>
                <a:cs typeface="Times New Roman" panose="02020603050405020304" pitchFamily="18" charset="0"/>
              </a:rPr>
              <a:t>E</a:t>
            </a:r>
            <a:r>
              <a:rPr lang="en-IN" sz="4400" b="1" spc="-80" dirty="0">
                <a:solidFill>
                  <a:srgbClr val="000000"/>
                </a:solidFill>
                <a:latin typeface="Times New Roman" panose="02020603050405020304" pitchFamily="18" charset="0"/>
                <a:cs typeface="Times New Roman" panose="02020603050405020304" pitchFamily="18" charset="0"/>
              </a:rPr>
              <a:t>N</a:t>
            </a:r>
            <a:r>
              <a:rPr lang="en-IN" sz="4400" b="1" spc="10" dirty="0">
                <a:solidFill>
                  <a:srgbClr val="000000"/>
                </a:solidFill>
                <a:latin typeface="Times New Roman" panose="02020603050405020304" pitchFamily="18" charset="0"/>
                <a:cs typeface="Times New Roman" panose="02020603050405020304" pitchFamily="18" charset="0"/>
              </a:rPr>
              <a:t>T</a:t>
            </a:r>
            <a:endParaRPr lang="en-US" sz="4400" b="1" dirty="0">
              <a:solidFill>
                <a:srgbClr val="000000"/>
              </a:solidFill>
              <a:latin typeface="Times New Roman" panose="02020603050405020304" pitchFamily="18" charset="0"/>
              <a:cs typeface="Times New Roman" panose="02020603050405020304" pitchFamily="18" charset="0"/>
            </a:endParaRP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694916562"/>
              </p:ext>
            </p:extLst>
          </p:nvPr>
        </p:nvGraphicFramePr>
        <p:xfrm>
          <a:off x="420625" y="1100182"/>
          <a:ext cx="238443" cy="830596"/>
        </p:xfrm>
        <a:graphic>
          <a:graphicData uri="http://schemas.openxmlformats.org/drawingml/2006/table">
            <a:tbl>
              <a:tblPr firstRow="1" bandRow="1"/>
              <a:tblGrid>
                <a:gridCol w="238443">
                  <a:extLst>
                    <a:ext uri="{9D8B030D-6E8A-4147-A177-3AD203B41FA5}">
                      <a16:colId xmlns:a16="http://schemas.microsoft.com/office/drawing/2014/main" val="1563570424"/>
                    </a:ext>
                  </a:extLst>
                </a:gridCol>
              </a:tblGrid>
              <a:tr h="83059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2400" b="0" dirty="0">
                        <a:latin typeface="+mj-lt"/>
                      </a:endParaRP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bl>
          </a:graphicData>
        </a:graphic>
      </p:graphicFrame>
      <p:sp>
        <p:nvSpPr>
          <p:cNvPr id="3" name="TextBox 2">
            <a:extLst>
              <a:ext uri="{FF2B5EF4-FFF2-40B4-BE49-F238E27FC236}">
                <a16:creationId xmlns:a16="http://schemas.microsoft.com/office/drawing/2014/main" id="{D02358F3-ED53-3BDD-1779-2AA52791953A}"/>
              </a:ext>
            </a:extLst>
          </p:cNvPr>
          <p:cNvSpPr txBox="1"/>
          <p:nvPr/>
        </p:nvSpPr>
        <p:spPr>
          <a:xfrm>
            <a:off x="973934" y="1433366"/>
            <a:ext cx="10602468" cy="1938992"/>
          </a:xfrm>
          <a:prstGeom prst="rect">
            <a:avLst/>
          </a:prstGeom>
          <a:noFill/>
        </p:spPr>
        <p:txBody>
          <a:bodyPr wrap="square" rtlCol="0">
            <a:spAutoFit/>
          </a:bodyPr>
          <a:lstStyle/>
          <a:p>
            <a:r>
              <a:rPr lang="en-US" sz="2000" b="1" dirty="0">
                <a:solidFill>
                  <a:srgbClr val="000000"/>
                </a:solidFill>
                <a:latin typeface="Times New Roman" panose="02020603050405020304" pitchFamily="18" charset="0"/>
                <a:cs typeface="Times New Roman" panose="02020603050405020304" pitchFamily="18" charset="0"/>
              </a:rPr>
              <a:t>Manual evaluation of exam papers is time-consuming and inconsistent. Teachers spend a large amount of time checking whether questions match the syllabus, identifying their cognitive level, and grading student answers one by one. Different teachers may grade the same answer differently, leading to unfair results. There is no automated system at IIS University that can analyze question papers, detect Bloom's Taxonomy levels, evaluate student answers intelligently, and provide transparent and explainable feedback to both teachers and students.</a:t>
            </a:r>
            <a:endParaRPr lang="en-IN" sz="2000"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2148840" y="182880"/>
            <a:ext cx="8156448" cy="1005840"/>
          </a:xfrm>
        </p:spPr>
        <p:txBody>
          <a:bodyPr/>
          <a:lstStyle/>
          <a:p>
            <a:pPr algn="ctr"/>
            <a:r>
              <a:rPr lang="en-IN" sz="4400" b="1" spc="-40" dirty="0">
                <a:solidFill>
                  <a:schemeClr val="accent6">
                    <a:lumMod val="10000"/>
                  </a:schemeClr>
                </a:solidFill>
                <a:latin typeface="Times New Roman" panose="02020603050405020304" pitchFamily="18" charset="0"/>
                <a:cs typeface="Times New Roman" panose="02020603050405020304" pitchFamily="18" charset="0"/>
              </a:rPr>
              <a:t>Objective</a:t>
            </a:r>
            <a:endParaRPr lang="en-US" sz="4400" b="1" dirty="0">
              <a:solidFill>
                <a:schemeClr val="accent6">
                  <a:lumMod val="10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DD3ABDB-A9F3-6056-8BAC-CF55AE8094CA}"/>
              </a:ext>
            </a:extLst>
          </p:cNvPr>
          <p:cNvSpPr txBox="1"/>
          <p:nvPr/>
        </p:nvSpPr>
        <p:spPr>
          <a:xfrm>
            <a:off x="301752" y="1188720"/>
            <a:ext cx="11585448" cy="5047536"/>
          </a:xfrm>
          <a:prstGeom prst="rect">
            <a:avLst/>
          </a:prstGeom>
          <a:noFill/>
        </p:spPr>
        <p:txBody>
          <a:bodyPr wrap="square" rtlCol="0">
            <a:spAutoFit/>
          </a:bodyPr>
          <a:lstStyle/>
          <a:p>
            <a:pPr marL="457200" lvl="0" indent="-457200">
              <a:lnSpc>
                <a:spcPct val="200000"/>
              </a:lnSpc>
              <a:buFont typeface="+mj-lt"/>
              <a:buAutoNum type="arabicPeriod"/>
            </a:pPr>
            <a:r>
              <a:rPr lang="en-IN" sz="2000" dirty="0">
                <a:solidFill>
                  <a:srgbClr val="000000"/>
                </a:solidFill>
                <a:latin typeface="Times New Roman" panose="02020603050405020304" pitchFamily="18" charset="0"/>
                <a:cs typeface="Times New Roman" panose="02020603050405020304" pitchFamily="18" charset="0"/>
              </a:rPr>
              <a:t>To build a web-based system that automatically extracts and analyses CA question papers using Vision AI and detects Bloom's Taxonomy levels (L1–L6).</a:t>
            </a:r>
          </a:p>
          <a:p>
            <a:pPr marL="457200" lvl="0" indent="-457200">
              <a:lnSpc>
                <a:spcPct val="200000"/>
              </a:lnSpc>
              <a:buFont typeface="+mj-lt"/>
              <a:buAutoNum type="arabicPeriod"/>
            </a:pPr>
            <a:r>
              <a:rPr lang="en-IN" sz="2000" dirty="0">
                <a:solidFill>
                  <a:srgbClr val="000000"/>
                </a:solidFill>
                <a:latin typeface="Times New Roman" panose="02020603050405020304" pitchFamily="18" charset="0"/>
                <a:cs typeface="Times New Roman" panose="02020603050405020304" pitchFamily="18" charset="0"/>
              </a:rPr>
              <a:t>To evaluate student answers using a four-agent AI pipeline combining keyword scoring and semantic understanding, generating final marks out of 15.</a:t>
            </a:r>
          </a:p>
          <a:p>
            <a:pPr marL="457200" lvl="0" indent="-457200">
              <a:lnSpc>
                <a:spcPct val="200000"/>
              </a:lnSpc>
              <a:buFont typeface="+mj-lt"/>
              <a:buAutoNum type="arabicPeriod"/>
            </a:pPr>
            <a:r>
              <a:rPr lang="en-IN" sz="2000" dirty="0">
                <a:solidFill>
                  <a:srgbClr val="000000"/>
                </a:solidFill>
                <a:latin typeface="Times New Roman" panose="02020603050405020304" pitchFamily="18" charset="0"/>
                <a:cs typeface="Times New Roman" panose="02020603050405020304" pitchFamily="18" charset="0"/>
              </a:rPr>
              <a:t>To measure Course Outcome (CO) attainment on a 0–5 scale aligned with NBA accreditation standards.</a:t>
            </a:r>
          </a:p>
          <a:p>
            <a:pPr marL="457200" lvl="0" indent="-457200">
              <a:lnSpc>
                <a:spcPct val="200000"/>
              </a:lnSpc>
              <a:buFont typeface="+mj-lt"/>
              <a:buAutoNum type="arabicPeriod"/>
            </a:pPr>
            <a:r>
              <a:rPr lang="en-IN" sz="2000" dirty="0">
                <a:solidFill>
                  <a:srgbClr val="000000"/>
                </a:solidFill>
                <a:latin typeface="Times New Roman" panose="02020603050405020304" pitchFamily="18" charset="0"/>
                <a:cs typeface="Times New Roman" panose="02020603050405020304" pitchFamily="18" charset="0"/>
              </a:rPr>
              <a:t>To provide role-based access for teachers and students, where students can independently view their personalized AI feedback.</a:t>
            </a:r>
          </a:p>
          <a:p>
            <a:br>
              <a:rPr lang="en-US" dirty="0"/>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1547827" y="172664"/>
            <a:ext cx="9674352" cy="740664"/>
          </a:xfrm>
        </p:spPr>
        <p:txBody>
          <a:bodyPr anchor="b"/>
          <a:lstStyle/>
          <a:p>
            <a:pPr lvl="0"/>
            <a:r>
              <a:rPr lang="en-US" sz="4400" b="1" dirty="0">
                <a:solidFill>
                  <a:schemeClr val="accent6">
                    <a:lumMod val="10000"/>
                  </a:schemeClr>
                </a:solidFill>
                <a:latin typeface="Times New Roman" panose="02020603050405020304" pitchFamily="18" charset="0"/>
                <a:cs typeface="Times New Roman" panose="02020603050405020304" pitchFamily="18" charset="0"/>
              </a:rPr>
              <a:t>TOOLS  AND  TECHNOLOGIES</a:t>
            </a:r>
            <a:endParaRPr lang="en-IN" sz="4400" b="1" dirty="0">
              <a:solidFill>
                <a:schemeClr val="accent6">
                  <a:lumMod val="10000"/>
                </a:schemeClr>
              </a:solidFill>
              <a:latin typeface="Times New Roman" panose="02020603050405020304" pitchFamily="18" charset="0"/>
              <a:cs typeface="Times New Roman" panose="02020603050405020304" pitchFamily="18" charset="0"/>
            </a:endParaRPr>
          </a:p>
        </p:txBody>
      </p:sp>
      <p:pic>
        <p:nvPicPr>
          <p:cNvPr id="2054" name="Picture 6" descr="Python: Cool features in python 3.11 ...">
            <a:extLst>
              <a:ext uri="{FF2B5EF4-FFF2-40B4-BE49-F238E27FC236}">
                <a16:creationId xmlns:a16="http://schemas.microsoft.com/office/drawing/2014/main" id="{9959CC76-96B2-FF8A-FD7C-57F7DB3637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2739" y="990600"/>
            <a:ext cx="1465262" cy="14587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6" name="Picture 8" descr="Getting Started with Flask - Hongkiat">
            <a:extLst>
              <a:ext uri="{FF2B5EF4-FFF2-40B4-BE49-F238E27FC236}">
                <a16:creationId xmlns:a16="http://schemas.microsoft.com/office/drawing/2014/main" id="{FC52DC8A-84CF-CEAE-A3CF-E755184243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81282">
            <a:off x="8104124" y="971212"/>
            <a:ext cx="2080083" cy="158662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2060" name="Picture 12" descr="With HTML CSS and JS is it possible to make a game and make what not on a  web base or do I need to learn a different code to do it">
            <a:extLst>
              <a:ext uri="{FF2B5EF4-FFF2-40B4-BE49-F238E27FC236}">
                <a16:creationId xmlns:a16="http://schemas.microsoft.com/office/drawing/2014/main" id="{509AEFF4-CA42-49E6-011A-92CF152BF5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67887" y="2938824"/>
            <a:ext cx="2424113" cy="21907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2062" name="Picture 14" descr="SQLite Tutorial - An Easy Way to Master ...">
            <a:extLst>
              <a:ext uri="{FF2B5EF4-FFF2-40B4-BE49-F238E27FC236}">
                <a16:creationId xmlns:a16="http://schemas.microsoft.com/office/drawing/2014/main" id="{1373506E-8231-70F8-5B73-83756236A1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15401" y="5284610"/>
            <a:ext cx="3114675" cy="13117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64" name="Picture 16" descr="Automate Excel with Python using ...">
            <a:extLst>
              <a:ext uri="{FF2B5EF4-FFF2-40B4-BE49-F238E27FC236}">
                <a16:creationId xmlns:a16="http://schemas.microsoft.com/office/drawing/2014/main" id="{1EE4E1EF-C93E-39C0-6880-0C2299870E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49143" y="982536"/>
            <a:ext cx="1718180" cy="18206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66" name="Picture 18" descr="Introducing Chart.js: A Powerful ...">
            <a:extLst>
              <a:ext uri="{FF2B5EF4-FFF2-40B4-BE49-F238E27FC236}">
                <a16:creationId xmlns:a16="http://schemas.microsoft.com/office/drawing/2014/main" id="{6A45856D-6242-132B-D5D4-4B488DC984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9143" y="5804206"/>
            <a:ext cx="3114675" cy="8741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68" name="Picture 20" descr="Pillow (PIL Fork) 12.2.0 documentation">
            <a:extLst>
              <a:ext uri="{FF2B5EF4-FFF2-40B4-BE49-F238E27FC236}">
                <a16:creationId xmlns:a16="http://schemas.microsoft.com/office/drawing/2014/main" id="{DBE2E070-47BD-2406-4598-CBE695C7B45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13407" y="2673852"/>
            <a:ext cx="2390168" cy="119508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C1B3F99-8B36-41DE-753B-D49BE6B9B590}"/>
              </a:ext>
            </a:extLst>
          </p:cNvPr>
          <p:cNvSpPr txBox="1"/>
          <p:nvPr/>
        </p:nvSpPr>
        <p:spPr>
          <a:xfrm>
            <a:off x="210716" y="913328"/>
            <a:ext cx="5220543" cy="6278642"/>
          </a:xfrm>
          <a:prstGeom prst="rect">
            <a:avLst/>
          </a:prstGeom>
          <a:noFill/>
        </p:spPr>
        <p:txBody>
          <a:bodyPr wrap="square" rtlCol="0">
            <a:spAutoFit/>
          </a:bodyPr>
          <a:lstStyle/>
          <a:p>
            <a:pPr lvl="0"/>
            <a:r>
              <a:rPr lang="en-IN" sz="2000" b="1" dirty="0">
                <a:latin typeface="Times New Roman" panose="02020603050405020304" pitchFamily="18" charset="0"/>
                <a:cs typeface="Times New Roman" panose="02020603050405020304" pitchFamily="18" charset="0"/>
              </a:rPr>
              <a:t>1. Python 3.11</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Python was the main programming language used for the entire backend. It handled all routing, database operations, AI API calls, file processing, and Excel generation.</a:t>
            </a:r>
          </a:p>
          <a:p>
            <a:endParaRPr lang="en-IN" sz="2000" dirty="0">
              <a:latin typeface="Times New Roman" panose="02020603050405020304" pitchFamily="18" charset="0"/>
              <a:cs typeface="Times New Roman" panose="02020603050405020304" pitchFamily="18" charset="0"/>
            </a:endParaRPr>
          </a:p>
          <a:p>
            <a:pPr lvl="0"/>
            <a:r>
              <a:rPr lang="en-IN" sz="2000" b="1" dirty="0">
                <a:latin typeface="Times New Roman" panose="02020603050405020304" pitchFamily="18" charset="0"/>
                <a:cs typeface="Times New Roman" panose="02020603050405020304" pitchFamily="18" charset="0"/>
              </a:rPr>
              <a:t>2.  Flask</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Flask was used as the web framework to build the backend server. It managed all routes such as /login, /register, /assess, and /answer-evaluator, handled sessions for user authentication, and connected the frontend with the AI logic.</a:t>
            </a:r>
          </a:p>
          <a:p>
            <a:endParaRPr lang="en-IN" sz="2000" dirty="0">
              <a:latin typeface="Times New Roman" panose="02020603050405020304" pitchFamily="18" charset="0"/>
              <a:cs typeface="Times New Roman" panose="02020603050405020304" pitchFamily="18" charset="0"/>
            </a:endParaRPr>
          </a:p>
          <a:p>
            <a:pPr lvl="0"/>
            <a:r>
              <a:rPr lang="en-IN" sz="2000" b="1" dirty="0">
                <a:latin typeface="Times New Roman" panose="02020603050405020304" pitchFamily="18" charset="0"/>
                <a:cs typeface="Times New Roman" panose="02020603050405020304" pitchFamily="18" charset="0"/>
              </a:rPr>
              <a:t>3. </a:t>
            </a:r>
            <a:r>
              <a:rPr lang="en-US" sz="2000" b="1" dirty="0" err="1">
                <a:latin typeface="Times New Roman" panose="02020603050405020304" pitchFamily="18" charset="0"/>
                <a:cs typeface="Times New Roman" panose="02020603050405020304" pitchFamily="18" charset="0"/>
              </a:rPr>
              <a:t>Groq</a:t>
            </a:r>
            <a:r>
              <a:rPr lang="en-US" sz="2000" b="1" dirty="0">
                <a:latin typeface="Times New Roman" panose="02020603050405020304" pitchFamily="18" charset="0"/>
                <a:cs typeface="Times New Roman" panose="02020603050405020304" pitchFamily="18" charset="0"/>
              </a:rPr>
              <a:t> LLM API (Llama 3.3)</a:t>
            </a:r>
            <a:r>
              <a:rPr lang="en-IN" sz="2000" b="1" dirty="0">
                <a:latin typeface="Times New Roman" panose="02020603050405020304" pitchFamily="18" charset="0"/>
                <a:cs typeface="Times New Roman" panose="02020603050405020304" pitchFamily="18" charset="0"/>
              </a:rPr>
              <a:t> API  </a:t>
            </a:r>
          </a:p>
          <a:p>
            <a:r>
              <a:rPr lang="en-IN" sz="2000" dirty="0" err="1">
                <a:latin typeface="Times New Roman" panose="02020603050405020304" pitchFamily="18" charset="0"/>
                <a:cs typeface="Times New Roman" panose="02020603050405020304" pitchFamily="18" charset="0"/>
              </a:rPr>
              <a:t>Groq</a:t>
            </a:r>
            <a:r>
              <a:rPr lang="en-IN" sz="2000" dirty="0">
                <a:latin typeface="Times New Roman" panose="02020603050405020304" pitchFamily="18" charset="0"/>
                <a:cs typeface="Times New Roman" panose="02020603050405020304" pitchFamily="18" charset="0"/>
              </a:rPr>
              <a:t> LLM API  was used as the core AI engine for all four agents. It processed question paper images using Vision AI, detected Bloom's Taxonomy levels, extracted keywords, and evaluated student answers semantically.</a:t>
            </a:r>
          </a:p>
          <a:p>
            <a:r>
              <a:rPr lang="en-IN" dirty="0"/>
              <a:t> </a:t>
            </a:r>
          </a:p>
        </p:txBody>
      </p:sp>
      <p:pic>
        <p:nvPicPr>
          <p:cNvPr id="2" name="Picture 1">
            <a:extLst>
              <a:ext uri="{FF2B5EF4-FFF2-40B4-BE49-F238E27FC236}">
                <a16:creationId xmlns:a16="http://schemas.microsoft.com/office/drawing/2014/main" id="{BF3D8670-67B7-92BF-7A63-7783D8C3920A}"/>
              </a:ext>
            </a:extLst>
          </p:cNvPr>
          <p:cNvPicPr>
            <a:picLocks noChangeAspect="1"/>
          </p:cNvPicPr>
          <p:nvPr/>
        </p:nvPicPr>
        <p:blipFill>
          <a:blip r:embed="rId10"/>
          <a:stretch>
            <a:fillRect/>
          </a:stretch>
        </p:blipFill>
        <p:spPr>
          <a:xfrm>
            <a:off x="5431259" y="3990266"/>
            <a:ext cx="3099816" cy="174364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252021" y="128202"/>
            <a:ext cx="11197675" cy="6647501"/>
          </a:xfrm>
        </p:spPr>
        <p:txBody>
          <a:bodyPr>
            <a:normAutofit lnSpcReduction="10000"/>
          </a:bodyPr>
          <a:lstStyle/>
          <a:p>
            <a:pPr marL="0" lvl="0" indent="0">
              <a:buNone/>
            </a:pPr>
            <a:r>
              <a:rPr lang="en-IN" b="1" dirty="0">
                <a:latin typeface="Times New Roman" panose="02020603050405020304" pitchFamily="18" charset="0"/>
                <a:cs typeface="Times New Roman" panose="02020603050405020304" pitchFamily="18" charset="0"/>
              </a:rPr>
              <a:t>4. HTML5, CSS3 and JavaScript </a:t>
            </a:r>
          </a:p>
          <a:p>
            <a:pPr marL="0" indent="0">
              <a:buNone/>
            </a:pPr>
            <a:r>
              <a:rPr lang="en-IN" dirty="0">
                <a:latin typeface="Times New Roman" panose="02020603050405020304" pitchFamily="18" charset="0"/>
                <a:cs typeface="Times New Roman" panose="02020603050405020304" pitchFamily="18" charset="0"/>
              </a:rPr>
              <a:t>The complete frontend was built using plain HTML, CSS, and JavaScript without any heavy framework. All pages follow IIS University's official maroon and gold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theme.</a:t>
            </a:r>
          </a:p>
          <a:p>
            <a:pPr marL="0" indent="0">
              <a:buNone/>
            </a:pPr>
            <a:endParaRPr lang="en-IN" dirty="0">
              <a:latin typeface="Times New Roman" panose="02020603050405020304" pitchFamily="18" charset="0"/>
              <a:cs typeface="Times New Roman" panose="02020603050405020304" pitchFamily="18" charset="0"/>
            </a:endParaRPr>
          </a:p>
          <a:p>
            <a:pPr marL="0" lvl="0" indent="0">
              <a:buNone/>
            </a:pPr>
            <a:r>
              <a:rPr lang="en-IN" b="1" dirty="0">
                <a:latin typeface="Times New Roman" panose="02020603050405020304" pitchFamily="18" charset="0"/>
                <a:cs typeface="Times New Roman" panose="02020603050405020304" pitchFamily="18" charset="0"/>
              </a:rPr>
              <a:t>5. SQLite </a:t>
            </a:r>
          </a:p>
          <a:p>
            <a:pPr marL="0" indent="0">
              <a:buNone/>
            </a:pPr>
            <a:r>
              <a:rPr lang="en-IN" dirty="0">
                <a:latin typeface="Times New Roman" panose="02020603050405020304" pitchFamily="18" charset="0"/>
                <a:cs typeface="Times New Roman" panose="02020603050405020304" pitchFamily="18" charset="0"/>
              </a:rPr>
              <a:t>SQLite was used as the database. It auto-creates on first run and stores user accounts, question analysis results, teacher feedback, and student evaluation records.</a:t>
            </a:r>
          </a:p>
          <a:p>
            <a:pPr marL="0" lvl="0" indent="0">
              <a:buNone/>
            </a:pPr>
            <a:endParaRPr lang="en-IN" dirty="0">
              <a:latin typeface="Times New Roman" panose="02020603050405020304" pitchFamily="18" charset="0"/>
              <a:cs typeface="Times New Roman" panose="02020603050405020304" pitchFamily="18" charset="0"/>
            </a:endParaRPr>
          </a:p>
          <a:p>
            <a:pPr marL="0" lvl="0" indent="0">
              <a:buNone/>
            </a:pPr>
            <a:r>
              <a:rPr lang="en-IN" b="1" dirty="0">
                <a:latin typeface="Times New Roman" panose="02020603050405020304" pitchFamily="18" charset="0"/>
                <a:cs typeface="Times New Roman" panose="02020603050405020304" pitchFamily="18" charset="0"/>
              </a:rPr>
              <a:t>6. OpenPyXL </a:t>
            </a:r>
          </a:p>
          <a:p>
            <a:pPr marL="0" indent="0">
              <a:buNone/>
            </a:pPr>
            <a:r>
              <a:rPr lang="en-IN" dirty="0">
                <a:latin typeface="Times New Roman" panose="02020603050405020304" pitchFamily="18" charset="0"/>
                <a:cs typeface="Times New Roman" panose="02020603050405020304" pitchFamily="18" charset="0"/>
              </a:rPr>
              <a:t>OpenPyXL was used to generate downloadable Excel reports containing question analysis data and student evaluation results with all scores, grades, and feedback.</a:t>
            </a:r>
          </a:p>
          <a:p>
            <a:pPr marL="0" lvl="0" indent="0">
              <a:buNone/>
            </a:pPr>
            <a:endParaRPr lang="en-IN" dirty="0">
              <a:latin typeface="Times New Roman" panose="02020603050405020304" pitchFamily="18" charset="0"/>
              <a:cs typeface="Times New Roman" panose="02020603050405020304" pitchFamily="18" charset="0"/>
            </a:endParaRPr>
          </a:p>
          <a:p>
            <a:pPr marL="0" lvl="0" indent="0">
              <a:buNone/>
            </a:pPr>
            <a:r>
              <a:rPr lang="en-IN" b="1" dirty="0">
                <a:latin typeface="Times New Roman" panose="02020603050405020304" pitchFamily="18" charset="0"/>
                <a:cs typeface="Times New Roman" panose="02020603050405020304" pitchFamily="18" charset="0"/>
              </a:rPr>
              <a:t>7. Chart.js </a:t>
            </a:r>
          </a:p>
          <a:p>
            <a:pPr marL="0" indent="0">
              <a:buNone/>
            </a:pPr>
            <a:r>
              <a:rPr lang="en-IN" dirty="0">
                <a:latin typeface="Times New Roman" panose="02020603050405020304" pitchFamily="18" charset="0"/>
                <a:cs typeface="Times New Roman" panose="02020603050405020304" pitchFamily="18" charset="0"/>
              </a:rPr>
              <a:t>Chart.js was used to display a visual bar chart showing concept coverage in the answer evaluator — which concepts were covered and which were missing in the student's answer.</a:t>
            </a:r>
          </a:p>
          <a:p>
            <a:pPr marL="0" indent="0">
              <a:buNone/>
            </a:pPr>
            <a:endParaRPr lang="en-IN" dirty="0">
              <a:latin typeface="Times New Roman" panose="02020603050405020304" pitchFamily="18" charset="0"/>
              <a:cs typeface="Times New Roman" panose="02020603050405020304" pitchFamily="18" charset="0"/>
            </a:endParaRPr>
          </a:p>
          <a:p>
            <a:pPr marL="0" lvl="0" indent="0">
              <a:buNone/>
            </a:pPr>
            <a:r>
              <a:rPr lang="en-IN" b="1" dirty="0">
                <a:latin typeface="Times New Roman" panose="02020603050405020304" pitchFamily="18" charset="0"/>
                <a:cs typeface="Times New Roman" panose="02020603050405020304" pitchFamily="18" charset="0"/>
              </a:rPr>
              <a:t>8. Pillow </a:t>
            </a:r>
          </a:p>
          <a:p>
            <a:pPr marL="0" indent="0">
              <a:buNone/>
            </a:pPr>
            <a:r>
              <a:rPr lang="en-IN" dirty="0">
                <a:latin typeface="Times New Roman" panose="02020603050405020304" pitchFamily="18" charset="0"/>
                <a:cs typeface="Times New Roman" panose="02020603050405020304" pitchFamily="18" charset="0"/>
              </a:rPr>
              <a:t>Pillow was used for image processing when question papers were uploaded as image files.</a:t>
            </a:r>
          </a:p>
          <a:p>
            <a:pPr marL="0" indent="0">
              <a:buNone/>
            </a:pPr>
            <a:r>
              <a:rPr lang="en-US" sz="400" dirty="0"/>
              <a:t>.</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04E1DA-0B3F-08B9-6069-5F47D9FB22A0}"/>
            </a:ext>
          </a:extLst>
        </p:cNvPr>
        <p:cNvGrpSpPr/>
        <p:nvPr/>
      </p:nvGrpSpPr>
      <p:grpSpPr>
        <a:xfrm>
          <a:off x="0" y="0"/>
          <a:ext cx="0" cy="0"/>
          <a:chOff x="0" y="0"/>
          <a:chExt cx="0" cy="0"/>
        </a:xfrm>
      </p:grpSpPr>
      <p:sp>
        <p:nvSpPr>
          <p:cNvPr id="3" name="AutoShape 4" descr="Generated image: Methodology flowchart for AI system">
            <a:extLst>
              <a:ext uri="{FF2B5EF4-FFF2-40B4-BE49-F238E27FC236}">
                <a16:creationId xmlns:a16="http://schemas.microsoft.com/office/drawing/2014/main" id="{4791769C-DDC6-7948-0761-C88605F8D50C}"/>
              </a:ext>
            </a:extLst>
          </p:cNvPr>
          <p:cNvSpPr>
            <a:spLocks noGrp="1" noChangeAspect="1" noChangeArrowheads="1"/>
          </p:cNvSpPr>
          <p:nvPr>
            <p:ph type="body" sz="quarter" idx="13"/>
          </p:nvPr>
        </p:nvSpPr>
        <p:spPr bwMode="auto">
          <a:xfrm>
            <a:off x="330200" y="1041400"/>
            <a:ext cx="11455400" cy="5429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5" name="Picture 4">
            <a:extLst>
              <a:ext uri="{FF2B5EF4-FFF2-40B4-BE49-F238E27FC236}">
                <a16:creationId xmlns:a16="http://schemas.microsoft.com/office/drawing/2014/main" id="{E6CFF4DD-13B4-EE50-FD5C-5C435DAB5377}"/>
              </a:ext>
            </a:extLst>
          </p:cNvPr>
          <p:cNvPicPr>
            <a:picLocks noChangeAspect="1"/>
          </p:cNvPicPr>
          <p:nvPr/>
        </p:nvPicPr>
        <p:blipFill>
          <a:blip r:embed="rId3"/>
          <a:stretch>
            <a:fillRect/>
          </a:stretch>
        </p:blipFill>
        <p:spPr>
          <a:xfrm>
            <a:off x="296640" y="237744"/>
            <a:ext cx="11470642" cy="6232906"/>
          </a:xfrm>
          <a:prstGeom prst="rect">
            <a:avLst/>
          </a:prstGeom>
        </p:spPr>
      </p:pic>
    </p:spTree>
    <p:extLst>
      <p:ext uri="{BB962C8B-B14F-4D97-AF65-F5344CB8AC3E}">
        <p14:creationId xmlns:p14="http://schemas.microsoft.com/office/powerpoint/2010/main" val="1791448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85AE9B6-0D9D-189A-ACEC-607C2E94511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85B2C6C-519E-3617-1B55-1E55E440F39D}"/>
              </a:ext>
            </a:extLst>
          </p:cNvPr>
          <p:cNvSpPr>
            <a:spLocks noGrp="1"/>
          </p:cNvSpPr>
          <p:nvPr>
            <p:ph type="title"/>
          </p:nvPr>
        </p:nvSpPr>
        <p:spPr>
          <a:xfrm>
            <a:off x="914399" y="-171703"/>
            <a:ext cx="10360152" cy="914400"/>
          </a:xfrm>
        </p:spPr>
        <p:txBody>
          <a:bodyPr/>
          <a:lstStyle/>
          <a:p>
            <a:pPr algn="ctr"/>
            <a:r>
              <a:rPr lang="en-US" sz="4400" b="1" dirty="0">
                <a:solidFill>
                  <a:schemeClr val="accent6">
                    <a:lumMod val="10000"/>
                  </a:schemeClr>
                </a:solidFill>
                <a:latin typeface="Times New Roman" panose="02020603050405020304" pitchFamily="18" charset="0"/>
                <a:cs typeface="Times New Roman" panose="02020603050405020304" pitchFamily="18" charset="0"/>
              </a:rPr>
              <a:t>Methodology</a:t>
            </a:r>
          </a:p>
        </p:txBody>
      </p:sp>
      <p:sp>
        <p:nvSpPr>
          <p:cNvPr id="2" name="Slide Number Placeholder 1">
            <a:extLst>
              <a:ext uri="{FF2B5EF4-FFF2-40B4-BE49-F238E27FC236}">
                <a16:creationId xmlns:a16="http://schemas.microsoft.com/office/drawing/2014/main" id="{25637033-5BEE-07C7-3BBF-3FC7FA5F7D67}"/>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
        <p:nvSpPr>
          <p:cNvPr id="10" name="TextBox 9">
            <a:extLst>
              <a:ext uri="{FF2B5EF4-FFF2-40B4-BE49-F238E27FC236}">
                <a16:creationId xmlns:a16="http://schemas.microsoft.com/office/drawing/2014/main" id="{5A91E9C2-4A6F-4210-F880-63CF45C50F0D}"/>
              </a:ext>
            </a:extLst>
          </p:cNvPr>
          <p:cNvSpPr txBox="1"/>
          <p:nvPr/>
        </p:nvSpPr>
        <p:spPr>
          <a:xfrm>
            <a:off x="286512" y="1028905"/>
            <a:ext cx="11539728" cy="175432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1 Dataset and Syllabus Setup</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Before building the system, all Semester 5 subjects for BCA and BSc(H) Data Analytics and AI courses were identified and mapped to their Unit 1 and Unit 2 topics as per IIS University CA exam format. This mapping was hardcoded into the backend so the system can automatically verify whether each question belongs to the correct syllabus unit when a question paper is uploaded.</a:t>
            </a:r>
          </a:p>
          <a:p>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05E56925-9794-0DED-C7B9-53214D624AA3}"/>
              </a:ext>
            </a:extLst>
          </p:cNvPr>
          <p:cNvSpPr txBox="1"/>
          <p:nvPr/>
        </p:nvSpPr>
        <p:spPr>
          <a:xfrm>
            <a:off x="496824" y="2568326"/>
            <a:ext cx="6452616" cy="3748329"/>
          </a:xfrm>
          <a:prstGeom prst="rect">
            <a:avLst/>
          </a:prstGeom>
          <a:noFill/>
        </p:spPr>
        <p:txBody>
          <a:bodyPr wrap="square" rtlCol="0">
            <a:spAutoFit/>
          </a:bodyPr>
          <a:lstStyle/>
          <a:p>
            <a:endParaRPr lang="en-IN" dirty="0"/>
          </a:p>
        </p:txBody>
      </p:sp>
      <p:graphicFrame>
        <p:nvGraphicFramePr>
          <p:cNvPr id="20" name="Table 19">
            <a:extLst>
              <a:ext uri="{FF2B5EF4-FFF2-40B4-BE49-F238E27FC236}">
                <a16:creationId xmlns:a16="http://schemas.microsoft.com/office/drawing/2014/main" id="{E8E05B16-D724-BE18-3DB8-597C9216BD31}"/>
              </a:ext>
            </a:extLst>
          </p:cNvPr>
          <p:cNvGraphicFramePr>
            <a:graphicFrameLocks noGrp="1"/>
          </p:cNvGraphicFramePr>
          <p:nvPr>
            <p:extLst>
              <p:ext uri="{D42A27DB-BD31-4B8C-83A1-F6EECF244321}">
                <p14:modId xmlns:p14="http://schemas.microsoft.com/office/powerpoint/2010/main" val="3730094603"/>
              </p:ext>
            </p:extLst>
          </p:nvPr>
        </p:nvGraphicFramePr>
        <p:xfrm>
          <a:off x="286512" y="2732219"/>
          <a:ext cx="5903976" cy="2743200"/>
        </p:xfrm>
        <a:graphic>
          <a:graphicData uri="http://schemas.openxmlformats.org/drawingml/2006/table">
            <a:tbl>
              <a:tblPr>
                <a:effectLst>
                  <a:outerShdw blurRad="50800" dist="38100" dir="2700000" algn="tl" rotWithShape="0">
                    <a:prstClr val="black">
                      <a:alpha val="40000"/>
                    </a:prstClr>
                  </a:outerShdw>
                </a:effectLst>
                <a:tableStyleId>{284E427A-3D55-4303-BF80-6455036E1DE7}</a:tableStyleId>
              </a:tblPr>
              <a:tblGrid>
                <a:gridCol w="1687230">
                  <a:extLst>
                    <a:ext uri="{9D8B030D-6E8A-4147-A177-3AD203B41FA5}">
                      <a16:colId xmlns:a16="http://schemas.microsoft.com/office/drawing/2014/main" val="1530875206"/>
                    </a:ext>
                  </a:extLst>
                </a:gridCol>
                <a:gridCol w="4216746">
                  <a:extLst>
                    <a:ext uri="{9D8B030D-6E8A-4147-A177-3AD203B41FA5}">
                      <a16:colId xmlns:a16="http://schemas.microsoft.com/office/drawing/2014/main" val="612785116"/>
                    </a:ext>
                  </a:extLst>
                </a:gridCol>
              </a:tblGrid>
              <a:tr h="316527">
                <a:tc>
                  <a:txBody>
                    <a:bodyPr/>
                    <a:lstStyle/>
                    <a:p>
                      <a:pPr>
                        <a:buNone/>
                      </a:pPr>
                      <a:r>
                        <a:rPr lang="en-IN" dirty="0"/>
                        <a:t>Course</a:t>
                      </a:r>
                      <a:endParaRPr lang="en-IN" dirty="0">
                        <a:latin typeface="Times New Roman" panose="02020603050405020304" pitchFamily="18" charset="0"/>
                        <a:cs typeface="Times New Roman" panose="02020603050405020304" pitchFamily="18" charset="0"/>
                      </a:endParaRPr>
                    </a:p>
                  </a:txBody>
                  <a:tcPr anchor="ctr">
                    <a:solidFill>
                      <a:schemeClr val="accent3"/>
                    </a:solidFill>
                  </a:tcPr>
                </a:tc>
                <a:tc>
                  <a:txBody>
                    <a:bodyPr/>
                    <a:lstStyle/>
                    <a:p>
                      <a:pPr>
                        <a:buNone/>
                      </a:pPr>
                      <a:r>
                        <a:rPr lang="en-IN" dirty="0"/>
                        <a:t>Subjects</a:t>
                      </a:r>
                      <a:endParaRPr lang="en-IN" dirty="0">
                        <a:latin typeface="Times New Roman" panose="02020603050405020304" pitchFamily="18" charset="0"/>
                        <a:cs typeface="Times New Roman" panose="02020603050405020304" pitchFamily="18" charset="0"/>
                      </a:endParaRPr>
                    </a:p>
                  </a:txBody>
                  <a:tcPr anchor="ctr">
                    <a:solidFill>
                      <a:schemeClr val="accent3"/>
                    </a:solidFill>
                  </a:tcPr>
                </a:tc>
                <a:extLst>
                  <a:ext uri="{0D108BD9-81ED-4DB2-BD59-A6C34878D82A}">
                    <a16:rowId xmlns:a16="http://schemas.microsoft.com/office/drawing/2014/main" val="987277286"/>
                  </a:ext>
                </a:extLst>
              </a:tr>
              <a:tr h="1096806">
                <a:tc>
                  <a:txBody>
                    <a:bodyPr/>
                    <a:lstStyle/>
                    <a:p>
                      <a:pPr>
                        <a:buNone/>
                      </a:pPr>
                      <a:r>
                        <a:rPr lang="en-IN" dirty="0"/>
                        <a:t>BCA Sem 5</a:t>
                      </a:r>
                      <a:endParaRPr lang="en-IN" dirty="0">
                        <a:latin typeface="Times New Roman" panose="02020603050405020304" pitchFamily="18" charset="0"/>
                        <a:cs typeface="Times New Roman" panose="02020603050405020304" pitchFamily="18" charset="0"/>
                      </a:endParaRPr>
                    </a:p>
                  </a:txBody>
                  <a:tcPr anchor="ctr">
                    <a:solidFill>
                      <a:schemeClr val="accent3"/>
                    </a:solidFill>
                  </a:tcPr>
                </a:tc>
                <a:tc>
                  <a:txBody>
                    <a:bodyPr/>
                    <a:lstStyle/>
                    <a:p>
                      <a:pPr>
                        <a:buNone/>
                      </a:pPr>
                      <a:r>
                        <a:rPr lang="en-US" dirty="0"/>
                        <a:t>Ethical Hacking, Web Application Development-III, Fundamentals of Testing, Mobile Application Development, Machine Learning, Cloud Computing, Presentation Skills</a:t>
                      </a:r>
                      <a:endParaRPr lang="en-US" dirty="0">
                        <a:latin typeface="Times New Roman" panose="02020603050405020304" pitchFamily="18" charset="0"/>
                        <a:cs typeface="Times New Roman" panose="02020603050405020304" pitchFamily="18" charset="0"/>
                      </a:endParaRPr>
                    </a:p>
                  </a:txBody>
                  <a:tcPr anchor="ctr">
                    <a:solidFill>
                      <a:schemeClr val="accent3"/>
                    </a:solidFill>
                  </a:tcPr>
                </a:tc>
                <a:extLst>
                  <a:ext uri="{0D108BD9-81ED-4DB2-BD59-A6C34878D82A}">
                    <a16:rowId xmlns:a16="http://schemas.microsoft.com/office/drawing/2014/main" val="2896519937"/>
                  </a:ext>
                </a:extLst>
              </a:tr>
              <a:tr h="797677">
                <a:tc>
                  <a:txBody>
                    <a:bodyPr/>
                    <a:lstStyle/>
                    <a:p>
                      <a:pPr>
                        <a:buNone/>
                      </a:pPr>
                      <a:r>
                        <a:rPr lang="en-IN" dirty="0"/>
                        <a:t>BSc(H) Sem 5</a:t>
                      </a:r>
                      <a:endParaRPr lang="en-IN" dirty="0">
                        <a:latin typeface="Times New Roman" panose="02020603050405020304" pitchFamily="18" charset="0"/>
                        <a:cs typeface="Times New Roman" panose="02020603050405020304" pitchFamily="18" charset="0"/>
                      </a:endParaRPr>
                    </a:p>
                  </a:txBody>
                  <a:tcPr anchor="ctr">
                    <a:solidFill>
                      <a:schemeClr val="accent3"/>
                    </a:solidFill>
                  </a:tcPr>
                </a:tc>
                <a:tc>
                  <a:txBody>
                    <a:bodyPr/>
                    <a:lstStyle/>
                    <a:p>
                      <a:pPr>
                        <a:buNone/>
                      </a:pPr>
                      <a:r>
                        <a:rPr lang="en-US" dirty="0"/>
                        <a:t>Operations Research, Linear Algebra, Data Visualization, Computer Vision and IoT, Big Data and Text Mining, Presentation Skills</a:t>
                      </a:r>
                      <a:endParaRPr lang="en-US" dirty="0">
                        <a:latin typeface="Times New Roman" panose="02020603050405020304" pitchFamily="18" charset="0"/>
                        <a:cs typeface="Times New Roman" panose="02020603050405020304" pitchFamily="18" charset="0"/>
                      </a:endParaRPr>
                    </a:p>
                  </a:txBody>
                  <a:tcPr anchor="ctr">
                    <a:solidFill>
                      <a:schemeClr val="accent3"/>
                    </a:solidFill>
                  </a:tcPr>
                </a:tc>
                <a:extLst>
                  <a:ext uri="{0D108BD9-81ED-4DB2-BD59-A6C34878D82A}">
                    <a16:rowId xmlns:a16="http://schemas.microsoft.com/office/drawing/2014/main" val="641708843"/>
                  </a:ext>
                </a:extLst>
              </a:tr>
            </a:tbl>
          </a:graphicData>
        </a:graphic>
      </p:graphicFrame>
      <p:sp>
        <p:nvSpPr>
          <p:cNvPr id="22" name="TextBox 21">
            <a:extLst>
              <a:ext uri="{FF2B5EF4-FFF2-40B4-BE49-F238E27FC236}">
                <a16:creationId xmlns:a16="http://schemas.microsoft.com/office/drawing/2014/main" id="{752ACF8A-BDE0-618B-8448-9507A89EEF61}"/>
              </a:ext>
            </a:extLst>
          </p:cNvPr>
          <p:cNvSpPr txBox="1"/>
          <p:nvPr/>
        </p:nvSpPr>
        <p:spPr>
          <a:xfrm>
            <a:off x="4736592" y="6361513"/>
            <a:ext cx="7089648" cy="369332"/>
          </a:xfrm>
          <a:prstGeom prst="rect">
            <a:avLst/>
          </a:prstGeom>
          <a:noFill/>
        </p:spPr>
        <p:txBody>
          <a:bodyPr wrap="square" rtlCol="0">
            <a:spAutoFit/>
          </a:bodyPr>
          <a:lstStyle/>
          <a:p>
            <a:r>
              <a:rPr lang="en-US" dirty="0"/>
              <a:t>                     Figure 1 : Subject Dropdown — Course and Subject Selection</a:t>
            </a:r>
            <a:endParaRPr lang="en-IN" dirty="0"/>
          </a:p>
        </p:txBody>
      </p:sp>
      <p:pic>
        <p:nvPicPr>
          <p:cNvPr id="23" name="Picture 22">
            <a:extLst>
              <a:ext uri="{FF2B5EF4-FFF2-40B4-BE49-F238E27FC236}">
                <a16:creationId xmlns:a16="http://schemas.microsoft.com/office/drawing/2014/main" id="{408FC098-C657-C582-E605-F827C1582216}"/>
              </a:ext>
            </a:extLst>
          </p:cNvPr>
          <p:cNvPicPr>
            <a:picLocks noChangeAspect="1"/>
          </p:cNvPicPr>
          <p:nvPr/>
        </p:nvPicPr>
        <p:blipFill>
          <a:blip r:embed="rId3"/>
          <a:stretch>
            <a:fillRect/>
          </a:stretch>
        </p:blipFill>
        <p:spPr>
          <a:xfrm>
            <a:off x="7251192" y="2349658"/>
            <a:ext cx="3622168" cy="4011855"/>
          </a:xfrm>
          <a:prstGeom prst="rect">
            <a:avLst/>
          </a:prstGeom>
        </p:spPr>
      </p:pic>
    </p:spTree>
    <p:extLst>
      <p:ext uri="{BB962C8B-B14F-4D97-AF65-F5344CB8AC3E}">
        <p14:creationId xmlns:p14="http://schemas.microsoft.com/office/powerpoint/2010/main" val="2331351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4">
            <a:extLst>
              <a:ext uri="{FF2B5EF4-FFF2-40B4-BE49-F238E27FC236}">
                <a16:creationId xmlns:a16="http://schemas.microsoft.com/office/drawing/2014/main" id="{7798761A-B671-4825-623F-F4726F2BDF28}"/>
              </a:ext>
            </a:extLst>
          </p:cNvPr>
          <p:cNvSpPr>
            <a:spLocks noGrp="1"/>
          </p:cNvSpPr>
          <p:nvPr>
            <p:ph sz="quarter" idx="12"/>
          </p:nvPr>
        </p:nvSpPr>
        <p:spPr>
          <a:xfrm>
            <a:off x="6162" y="0"/>
            <a:ext cx="12185838" cy="7068312"/>
          </a:xfrm>
        </p:spPr>
        <p:txBody>
          <a:bodyPr>
            <a:normAutofit/>
          </a:bodyPr>
          <a:lstStyle/>
          <a:p>
            <a:endParaRPr lang="en-US" sz="1800" b="1" dirty="0">
              <a:solidFill>
                <a:srgbClr val="000000"/>
              </a:solidFill>
              <a:latin typeface="Times New Roman" panose="02020603050405020304" pitchFamily="18" charset="0"/>
              <a:cs typeface="Times New Roman" panose="02020603050405020304" pitchFamily="18" charset="0"/>
            </a:endParaRPr>
          </a:p>
          <a:p>
            <a:r>
              <a:rPr lang="en-US" sz="1800" b="1" dirty="0">
                <a:solidFill>
                  <a:srgbClr val="000000"/>
                </a:solidFill>
                <a:latin typeface="Times New Roman" panose="02020603050405020304" pitchFamily="18" charset="0"/>
                <a:cs typeface="Times New Roman" panose="02020603050405020304" pitchFamily="18" charset="0"/>
              </a:rPr>
              <a:t>2. AI Agent Design</a:t>
            </a:r>
            <a:endParaRPr lang="en-US" sz="1800" dirty="0">
              <a:solidFill>
                <a:srgbClr val="000000"/>
              </a:solidFill>
              <a:latin typeface="Times New Roman" panose="02020603050405020304" pitchFamily="18" charset="0"/>
              <a:cs typeface="Times New Roman" panose="02020603050405020304" pitchFamily="18" charset="0"/>
            </a:endParaRPr>
          </a:p>
          <a:p>
            <a:r>
              <a:rPr lang="en-US" sz="1800" dirty="0">
                <a:solidFill>
                  <a:srgbClr val="000000"/>
                </a:solidFill>
                <a:latin typeface="Times New Roman" panose="02020603050405020304" pitchFamily="18" charset="0"/>
                <a:cs typeface="Times New Roman" panose="02020603050405020304" pitchFamily="18" charset="0"/>
              </a:rPr>
              <a:t>Four AI agents were designed using the Anthropic Claude API, each handling one specific task in the evaluation pipeline.</a:t>
            </a:r>
          </a:p>
          <a:p>
            <a:pPr marL="285750" indent="-285750">
              <a:buFont typeface="Arial" panose="020B0604020202020204" pitchFamily="34" charset="0"/>
              <a:buChar char="•"/>
            </a:pPr>
            <a:r>
              <a:rPr lang="en-US" sz="1800" b="1" dirty="0">
                <a:solidFill>
                  <a:srgbClr val="000000"/>
                </a:solidFill>
                <a:latin typeface="Times New Roman" panose="02020603050405020304" pitchFamily="18" charset="0"/>
                <a:cs typeface="Times New Roman" panose="02020603050405020304" pitchFamily="18" charset="0"/>
              </a:rPr>
              <a:t>Agent 1 — Vision AI:</a:t>
            </a:r>
            <a:r>
              <a:rPr lang="en-US" sz="1800" dirty="0">
                <a:solidFill>
                  <a:srgbClr val="000000"/>
                </a:solidFill>
                <a:latin typeface="Times New Roman" panose="02020603050405020304" pitchFamily="18" charset="0"/>
                <a:cs typeface="Times New Roman" panose="02020603050405020304" pitchFamily="18" charset="0"/>
              </a:rPr>
              <a:t> Reads the uploaded CA question paper as image or PDF and extracts all 4 questions automatically without any manual typing.</a:t>
            </a:r>
          </a:p>
          <a:p>
            <a:pPr marL="285750" indent="-285750">
              <a:buFont typeface="Arial" panose="020B0604020202020204" pitchFamily="34" charset="0"/>
              <a:buChar char="•"/>
            </a:pPr>
            <a:r>
              <a:rPr lang="en-US" sz="1800" b="1" dirty="0">
                <a:solidFill>
                  <a:srgbClr val="000000"/>
                </a:solidFill>
                <a:latin typeface="Times New Roman" panose="02020603050405020304" pitchFamily="18" charset="0"/>
                <a:cs typeface="Times New Roman" panose="02020603050405020304" pitchFamily="18" charset="0"/>
              </a:rPr>
              <a:t>Agent 2 — Keyword Extractor:</a:t>
            </a:r>
            <a:r>
              <a:rPr lang="en-US" sz="1800" dirty="0">
                <a:solidFill>
                  <a:srgbClr val="000000"/>
                </a:solidFill>
                <a:latin typeface="Times New Roman" panose="02020603050405020304" pitchFamily="18" charset="0"/>
                <a:cs typeface="Times New Roman" panose="02020603050405020304" pitchFamily="18" charset="0"/>
              </a:rPr>
              <a:t> Takes each question and identifies the must-have keywords and concepts that a correct answer should contain.</a:t>
            </a:r>
          </a:p>
          <a:p>
            <a:pPr marL="285750" indent="-285750">
              <a:buFont typeface="Arial" panose="020B0604020202020204" pitchFamily="34" charset="0"/>
              <a:buChar char="•"/>
            </a:pPr>
            <a:r>
              <a:rPr lang="en-US" sz="1800" b="1" dirty="0">
                <a:solidFill>
                  <a:srgbClr val="000000"/>
                </a:solidFill>
                <a:latin typeface="Times New Roman" panose="02020603050405020304" pitchFamily="18" charset="0"/>
                <a:cs typeface="Times New Roman" panose="02020603050405020304" pitchFamily="18" charset="0"/>
              </a:rPr>
              <a:t>Agent 3 — Semantic Evaluator:</a:t>
            </a:r>
            <a:r>
              <a:rPr lang="en-US" sz="1800" dirty="0">
                <a:solidFill>
                  <a:srgbClr val="000000"/>
                </a:solidFill>
                <a:latin typeface="Times New Roman" panose="02020603050405020304" pitchFamily="18" charset="0"/>
                <a:cs typeface="Times New Roman" panose="02020603050405020304" pitchFamily="18" charset="0"/>
              </a:rPr>
              <a:t> Reads the student's answer and evaluates it for understanding, depth, and accuracy beyond just keyword matching.</a:t>
            </a:r>
          </a:p>
          <a:p>
            <a:pPr marL="285750" indent="-285750">
              <a:buFont typeface="Arial" panose="020B0604020202020204" pitchFamily="34" charset="0"/>
              <a:buChar char="•"/>
            </a:pPr>
            <a:r>
              <a:rPr lang="en-US" sz="1800" b="1" dirty="0">
                <a:solidFill>
                  <a:srgbClr val="000000"/>
                </a:solidFill>
                <a:latin typeface="Times New Roman" panose="02020603050405020304" pitchFamily="18" charset="0"/>
                <a:cs typeface="Times New Roman" panose="02020603050405020304" pitchFamily="18" charset="0"/>
              </a:rPr>
              <a:t>Agent 4 — Orchestrator:</a:t>
            </a:r>
            <a:r>
              <a:rPr lang="en-US" sz="1800" dirty="0">
                <a:solidFill>
                  <a:srgbClr val="000000"/>
                </a:solidFill>
                <a:latin typeface="Times New Roman" panose="02020603050405020304" pitchFamily="18" charset="0"/>
                <a:cs typeface="Times New Roman" panose="02020603050405020304" pitchFamily="18" charset="0"/>
              </a:rPr>
              <a:t> Combines keyword score and semantic score using the formula below and produces final marks, grade, and AI feedback.</a:t>
            </a:r>
          </a:p>
          <a:p>
            <a:pPr marL="285750" indent="-285750">
              <a:buFont typeface="Arial" panose="020B0604020202020204" pitchFamily="34" charset="0"/>
              <a:buChar char="•"/>
            </a:pPr>
            <a:endParaRPr lang="en-US" sz="1800" dirty="0">
              <a:solidFill>
                <a:srgbClr val="000000"/>
              </a:solidFill>
              <a:latin typeface="Times New Roman" panose="02020603050405020304" pitchFamily="18" charset="0"/>
              <a:cs typeface="Times New Roman" panose="02020603050405020304" pitchFamily="18" charset="0"/>
            </a:endParaRPr>
          </a:p>
          <a:p>
            <a:r>
              <a:rPr lang="en-US" sz="1800" b="1" dirty="0">
                <a:solidFill>
                  <a:srgbClr val="000000"/>
                </a:solidFill>
                <a:latin typeface="Times New Roman" panose="02020603050405020304" pitchFamily="18" charset="0"/>
                <a:cs typeface="Times New Roman" panose="02020603050405020304" pitchFamily="18" charset="0"/>
              </a:rPr>
              <a:t>   Final Score = (60% × Keyword Score) + (40% × Semantic Score)</a:t>
            </a:r>
            <a:endParaRPr lang="en-US" sz="1800" dirty="0">
              <a:solidFill>
                <a:srgbClr val="000000"/>
              </a:solidFill>
              <a:latin typeface="Times New Roman" panose="02020603050405020304" pitchFamily="18" charset="0"/>
              <a:cs typeface="Times New Roman" panose="02020603050405020304" pitchFamily="18" charset="0"/>
            </a:endParaRPr>
          </a:p>
          <a:p>
            <a:r>
              <a:rPr lang="en-US" sz="1800" b="1" dirty="0">
                <a:solidFill>
                  <a:srgbClr val="000000"/>
                </a:solidFill>
                <a:latin typeface="Times New Roman" panose="02020603050405020304" pitchFamily="18" charset="0"/>
                <a:cs typeface="Times New Roman" panose="02020603050405020304" pitchFamily="18" charset="0"/>
              </a:rPr>
              <a:t>   Final Marks per Question = (Final Score / 10) × 5</a:t>
            </a:r>
            <a:endParaRPr lang="en-US" sz="1800" dirty="0">
              <a:solidFill>
                <a:srgbClr val="000000"/>
              </a:solidFill>
              <a:latin typeface="Times New Roman" panose="02020603050405020304" pitchFamily="18" charset="0"/>
              <a:cs typeface="Times New Roman" panose="02020603050405020304" pitchFamily="18" charset="0"/>
            </a:endParaRPr>
          </a:p>
          <a:p>
            <a:r>
              <a:rPr lang="en-US" sz="1800" b="1" dirty="0">
                <a:solidFill>
                  <a:srgbClr val="000000"/>
                </a:solidFill>
                <a:latin typeface="Times New Roman" panose="02020603050405020304" pitchFamily="18" charset="0"/>
                <a:cs typeface="Times New Roman" panose="02020603050405020304" pitchFamily="18" charset="0"/>
              </a:rPr>
              <a:t>   Total Marks = Sum of 3 attempted questions out of 15</a:t>
            </a:r>
          </a:p>
          <a:p>
            <a:endParaRPr lang="en-US" sz="1800" dirty="0">
              <a:solidFill>
                <a:srgbClr val="000000"/>
              </a:solidFill>
              <a:latin typeface="Times New Roman" panose="02020603050405020304" pitchFamily="18" charset="0"/>
              <a:cs typeface="Times New Roman" panose="02020603050405020304" pitchFamily="18" charset="0"/>
            </a:endParaRPr>
          </a:p>
          <a:p>
            <a:r>
              <a:rPr lang="en-US" sz="1800" i="1" dirty="0">
                <a:solidFill>
                  <a:srgbClr val="000000"/>
                </a:solidFill>
                <a:latin typeface="Times New Roman" panose="02020603050405020304" pitchFamily="18" charset="0"/>
                <a:cs typeface="Times New Roman" panose="02020603050405020304" pitchFamily="18" charset="0"/>
              </a:rPr>
              <a:t>                                                                                                                                                                                                                     </a:t>
            </a:r>
          </a:p>
          <a:p>
            <a:endParaRPr lang="en-US" sz="1800" i="1" dirty="0">
              <a:solidFill>
                <a:srgbClr val="000000"/>
              </a:solidFill>
              <a:latin typeface="Times New Roman" panose="02020603050405020304" pitchFamily="18" charset="0"/>
              <a:cs typeface="Times New Roman" panose="02020603050405020304" pitchFamily="18" charset="0"/>
            </a:endParaRPr>
          </a:p>
          <a:p>
            <a:endParaRPr lang="en-IN" sz="2400" dirty="0">
              <a:solidFill>
                <a:srgbClr val="000000"/>
              </a:solidFill>
              <a:latin typeface="Times New Roman" panose="02020603050405020304" pitchFamily="18" charset="0"/>
              <a:cs typeface="Times New Roman" panose="02020603050405020304" pitchFamily="18" charset="0"/>
            </a:endParaRPr>
          </a:p>
          <a:p>
            <a:endParaRPr lang="en-IN" sz="2400" dirty="0">
              <a:solidFill>
                <a:srgbClr val="000000"/>
              </a:solidFill>
              <a:latin typeface="Times New Roman" panose="02020603050405020304" pitchFamily="18" charset="0"/>
              <a:cs typeface="Times New Roman" panose="02020603050405020304" pitchFamily="18" charset="0"/>
            </a:endParaRPr>
          </a:p>
          <a:p>
            <a:endParaRPr lang="en-IN" sz="1600" b="1" dirty="0">
              <a:solidFill>
                <a:srgbClr val="000000"/>
              </a:solidFill>
              <a:latin typeface="Times New Roman" panose="02020603050405020304" pitchFamily="18" charset="0"/>
              <a:cs typeface="Times New Roman" panose="02020603050405020304" pitchFamily="18" charset="0"/>
            </a:endParaRPr>
          </a:p>
          <a:p>
            <a:endParaRPr lang="en-IN" sz="1600" b="1" dirty="0">
              <a:solidFill>
                <a:srgbClr val="000000"/>
              </a:solidFill>
              <a:latin typeface="Times New Roman" panose="02020603050405020304" pitchFamily="18" charset="0"/>
              <a:cs typeface="Times New Roman" panose="02020603050405020304" pitchFamily="18" charset="0"/>
            </a:endParaRPr>
          </a:p>
          <a:p>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
        <p:nvSpPr>
          <p:cNvPr id="7" name="Rectangle: Rounded Corners 6">
            <a:extLst>
              <a:ext uri="{FF2B5EF4-FFF2-40B4-BE49-F238E27FC236}">
                <a16:creationId xmlns:a16="http://schemas.microsoft.com/office/drawing/2014/main" id="{6CD91CB7-695B-F07F-CA94-355470FDC6A8}"/>
              </a:ext>
            </a:extLst>
          </p:cNvPr>
          <p:cNvSpPr/>
          <p:nvPr/>
        </p:nvSpPr>
        <p:spPr>
          <a:xfrm>
            <a:off x="73152" y="3803904"/>
            <a:ext cx="6601968" cy="1472184"/>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748348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3B736-B05A-24ED-093F-1ECD0E47F6F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676BA5A-0AF3-A293-660D-B66C0E5D4A2B}"/>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graphicFrame>
        <p:nvGraphicFramePr>
          <p:cNvPr id="8" name="Table 7">
            <a:extLst>
              <a:ext uri="{FF2B5EF4-FFF2-40B4-BE49-F238E27FC236}">
                <a16:creationId xmlns:a16="http://schemas.microsoft.com/office/drawing/2014/main" id="{B2E3C2CD-B031-5256-69FA-214A55C66D38}"/>
              </a:ext>
            </a:extLst>
          </p:cNvPr>
          <p:cNvGraphicFramePr>
            <a:graphicFrameLocks noGrp="1"/>
          </p:cNvGraphicFramePr>
          <p:nvPr>
            <p:extLst>
              <p:ext uri="{D42A27DB-BD31-4B8C-83A1-F6EECF244321}">
                <p14:modId xmlns:p14="http://schemas.microsoft.com/office/powerpoint/2010/main" val="537446799"/>
              </p:ext>
            </p:extLst>
          </p:nvPr>
        </p:nvGraphicFramePr>
        <p:xfrm>
          <a:off x="666750" y="-12223910"/>
          <a:ext cx="10515600" cy="11035666"/>
        </p:xfrm>
        <a:graphic>
          <a:graphicData uri="http://schemas.openxmlformats.org/drawingml/2006/table">
            <a:tbl>
              <a:tblPr/>
              <a:tblGrid>
                <a:gridCol w="5257800">
                  <a:extLst>
                    <a:ext uri="{9D8B030D-6E8A-4147-A177-3AD203B41FA5}">
                      <a16:colId xmlns:a16="http://schemas.microsoft.com/office/drawing/2014/main" val="253659155"/>
                    </a:ext>
                  </a:extLst>
                </a:gridCol>
                <a:gridCol w="5257800">
                  <a:extLst>
                    <a:ext uri="{9D8B030D-6E8A-4147-A177-3AD203B41FA5}">
                      <a16:colId xmlns:a16="http://schemas.microsoft.com/office/drawing/2014/main" val="2797381238"/>
                    </a:ext>
                  </a:extLst>
                </a:gridCol>
              </a:tblGrid>
              <a:tr h="2452370">
                <a:tc>
                  <a:txBody>
                    <a:bodyPr/>
                    <a:lstStyle/>
                    <a:p>
                      <a:pPr>
                        <a:buNone/>
                      </a:pPr>
                      <a:r>
                        <a:rPr lang="en-IN"/>
                        <a:t>Table</a:t>
                      </a:r>
                    </a:p>
                  </a:txBody>
                  <a:tcPr anchor="ctr">
                    <a:lnL>
                      <a:noFill/>
                    </a:lnL>
                    <a:lnR>
                      <a:noFill/>
                    </a:lnR>
                    <a:lnT>
                      <a:noFill/>
                    </a:lnT>
                    <a:lnB>
                      <a:noFill/>
                    </a:lnB>
                    <a:noFill/>
                  </a:tcPr>
                </a:tc>
                <a:tc>
                  <a:txBody>
                    <a:bodyPr/>
                    <a:lstStyle/>
                    <a:p>
                      <a:pPr>
                        <a:buNone/>
                      </a:pPr>
                      <a:r>
                        <a:rPr lang="en-IN"/>
                        <a:t>What it stores</a:t>
                      </a:r>
                    </a:p>
                  </a:txBody>
                  <a:tcPr anchor="ctr">
                    <a:lnL>
                      <a:noFill/>
                    </a:lnL>
                    <a:lnR>
                      <a:noFill/>
                    </a:lnR>
                    <a:lnT>
                      <a:noFill/>
                    </a:lnT>
                    <a:lnB>
                      <a:noFill/>
                    </a:lnB>
                    <a:noFill/>
                  </a:tcPr>
                </a:tc>
                <a:extLst>
                  <a:ext uri="{0D108BD9-81ED-4DB2-BD59-A6C34878D82A}">
                    <a16:rowId xmlns:a16="http://schemas.microsoft.com/office/drawing/2014/main" val="3260914680"/>
                  </a:ext>
                </a:extLst>
              </a:tr>
              <a:tr h="4291648">
                <a:tc>
                  <a:txBody>
                    <a:bodyPr/>
                    <a:lstStyle/>
                    <a:p>
                      <a:pPr>
                        <a:buNone/>
                      </a:pPr>
                      <a:r>
                        <a:rPr lang="en-IN"/>
                        <a:t>users</a:t>
                      </a:r>
                    </a:p>
                  </a:txBody>
                  <a:tcPr anchor="ctr">
                    <a:lnL>
                      <a:noFill/>
                    </a:lnL>
                    <a:lnR>
                      <a:noFill/>
                    </a:lnR>
                    <a:lnT>
                      <a:noFill/>
                    </a:lnT>
                    <a:lnB>
                      <a:noFill/>
                    </a:lnB>
                    <a:noFill/>
                  </a:tcPr>
                </a:tc>
                <a:tc>
                  <a:txBody>
                    <a:bodyPr/>
                    <a:lstStyle/>
                    <a:p>
                      <a:pPr>
                        <a:buNone/>
                      </a:pPr>
                      <a:r>
                        <a:rPr lang="en-US"/>
                        <a:t>Name, department, course, email, password hash, role, roll number</a:t>
                      </a:r>
                    </a:p>
                  </a:txBody>
                  <a:tcPr anchor="ctr">
                    <a:lnL>
                      <a:noFill/>
                    </a:lnL>
                    <a:lnR>
                      <a:noFill/>
                    </a:lnR>
                    <a:lnT>
                      <a:noFill/>
                    </a:lnT>
                    <a:lnB>
                      <a:noFill/>
                    </a:lnB>
                    <a:noFill/>
                  </a:tcPr>
                </a:tc>
                <a:extLst>
                  <a:ext uri="{0D108BD9-81ED-4DB2-BD59-A6C34878D82A}">
                    <a16:rowId xmlns:a16="http://schemas.microsoft.com/office/drawing/2014/main" val="2806757867"/>
                  </a:ext>
                </a:extLst>
              </a:tr>
              <a:tr h="4291648">
                <a:tc>
                  <a:txBody>
                    <a:bodyPr/>
                    <a:lstStyle/>
                    <a:p>
                      <a:pPr>
                        <a:buNone/>
                      </a:pPr>
                      <a:r>
                        <a:rPr lang="en-IN"/>
                        <a:t>evaluations</a:t>
                      </a:r>
                    </a:p>
                  </a:txBody>
                  <a:tcPr anchor="ctr">
                    <a:lnL>
                      <a:noFill/>
                    </a:lnL>
                    <a:lnR>
                      <a:noFill/>
                    </a:lnR>
                    <a:lnT>
                      <a:noFill/>
                    </a:lnT>
                    <a:lnB>
                      <a:noFill/>
                    </a:lnB>
                    <a:noFill/>
                  </a:tcPr>
                </a:tc>
                <a:tc>
                  <a:txBody>
                    <a:bodyPr/>
                    <a:lstStyle/>
                    <a:p>
                      <a:pPr>
                        <a:buNone/>
                      </a:pPr>
                      <a:r>
                        <a:rPr lang="en-US" dirty="0"/>
                        <a:t>Student answer scores — keyword, semantic, final marks, grade, AI feedback</a:t>
                      </a:r>
                    </a:p>
                  </a:txBody>
                  <a:tcPr anchor="ctr">
                    <a:lnL>
                      <a:noFill/>
                    </a:lnL>
                    <a:lnR>
                      <a:noFill/>
                    </a:lnR>
                    <a:lnT>
                      <a:noFill/>
                    </a:lnT>
                    <a:lnB>
                      <a:noFill/>
                    </a:lnB>
                    <a:noFill/>
                  </a:tcPr>
                </a:tc>
                <a:extLst>
                  <a:ext uri="{0D108BD9-81ED-4DB2-BD59-A6C34878D82A}">
                    <a16:rowId xmlns:a16="http://schemas.microsoft.com/office/drawing/2014/main" val="1907128805"/>
                  </a:ext>
                </a:extLst>
              </a:tr>
            </a:tbl>
          </a:graphicData>
        </a:graphic>
      </p:graphicFrame>
      <p:sp>
        <p:nvSpPr>
          <p:cNvPr id="19" name="TextBox 18">
            <a:extLst>
              <a:ext uri="{FF2B5EF4-FFF2-40B4-BE49-F238E27FC236}">
                <a16:creationId xmlns:a16="http://schemas.microsoft.com/office/drawing/2014/main" id="{E1BF9084-6048-3549-A279-338B85376DF6}"/>
              </a:ext>
            </a:extLst>
          </p:cNvPr>
          <p:cNvSpPr txBox="1"/>
          <p:nvPr/>
        </p:nvSpPr>
        <p:spPr>
          <a:xfrm>
            <a:off x="1061382" y="5636509"/>
            <a:ext cx="9272016" cy="646331"/>
          </a:xfrm>
          <a:prstGeom prst="rect">
            <a:avLst/>
          </a:prstGeom>
          <a:noFill/>
        </p:spPr>
        <p:txBody>
          <a:bodyPr wrap="square" rtlCol="0">
            <a:spAutoFit/>
          </a:bodyPr>
          <a:lstStyle/>
          <a:p>
            <a:r>
              <a:rPr lang="en-US" b="1" dirty="0">
                <a:solidFill>
                  <a:srgbClr val="000000"/>
                </a:solidFill>
                <a:latin typeface="Times New Roman" panose="02020603050405020304" pitchFamily="18" charset="0"/>
                <a:cs typeface="Times New Roman" panose="02020603050405020304" pitchFamily="18" charset="0"/>
              </a:rPr>
              <a:t> Figure 2 : Answer Evaluator — Analysis Report Table showing Semantic Score, Keyword Score, Final Marks </a:t>
            </a:r>
            <a:endParaRPr lang="en-IN" b="1" dirty="0"/>
          </a:p>
        </p:txBody>
      </p:sp>
      <p:pic>
        <p:nvPicPr>
          <p:cNvPr id="20" name="Picture 19">
            <a:extLst>
              <a:ext uri="{FF2B5EF4-FFF2-40B4-BE49-F238E27FC236}">
                <a16:creationId xmlns:a16="http://schemas.microsoft.com/office/drawing/2014/main" id="{03A3BA3C-DCCD-7CF5-8BD9-0F00F13F32C3}"/>
              </a:ext>
            </a:extLst>
          </p:cNvPr>
          <p:cNvPicPr>
            <a:picLocks noChangeAspect="1"/>
          </p:cNvPicPr>
          <p:nvPr/>
        </p:nvPicPr>
        <p:blipFill>
          <a:blip r:embed="rId3"/>
          <a:stretch>
            <a:fillRect/>
          </a:stretch>
        </p:blipFill>
        <p:spPr>
          <a:xfrm>
            <a:off x="228600" y="575160"/>
            <a:ext cx="6620256" cy="47373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3" name="Picture 22">
            <a:extLst>
              <a:ext uri="{FF2B5EF4-FFF2-40B4-BE49-F238E27FC236}">
                <a16:creationId xmlns:a16="http://schemas.microsoft.com/office/drawing/2014/main" id="{FF6723BF-39C0-94BA-9EC3-DD9916BC8E94}"/>
              </a:ext>
            </a:extLst>
          </p:cNvPr>
          <p:cNvPicPr>
            <a:picLocks noChangeAspect="1"/>
          </p:cNvPicPr>
          <p:nvPr/>
        </p:nvPicPr>
        <p:blipFill>
          <a:blip r:embed="rId4"/>
          <a:stretch>
            <a:fillRect/>
          </a:stretch>
        </p:blipFill>
        <p:spPr>
          <a:xfrm>
            <a:off x="7224304" y="676280"/>
            <a:ext cx="4580600" cy="47373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5720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2BB42B4-1767-665B-0DD2-ACDA795A568B}"/>
              </a:ext>
            </a:extLst>
          </p:cNvPr>
          <p:cNvGraphicFramePr>
            <a:graphicFrameLocks noGrp="1"/>
          </p:cNvGraphicFramePr>
          <p:nvPr>
            <p:extLst>
              <p:ext uri="{D42A27DB-BD31-4B8C-83A1-F6EECF244321}">
                <p14:modId xmlns:p14="http://schemas.microsoft.com/office/powerpoint/2010/main" val="2556638266"/>
              </p:ext>
            </p:extLst>
          </p:nvPr>
        </p:nvGraphicFramePr>
        <p:xfrm>
          <a:off x="184149" y="2368296"/>
          <a:ext cx="5911852" cy="3021581"/>
        </p:xfrm>
        <a:graphic>
          <a:graphicData uri="http://schemas.openxmlformats.org/drawingml/2006/table">
            <a:tbl>
              <a:tblPr>
                <a:effectLst>
                  <a:outerShdw blurRad="50800" dist="38100" dir="2700000" algn="tl" rotWithShape="0">
                    <a:prstClr val="black">
                      <a:alpha val="40000"/>
                    </a:prstClr>
                  </a:outerShdw>
                </a:effectLst>
                <a:tableStyleId>{08FB837D-C827-4EFA-A057-4D05807E0F7C}</a:tableStyleId>
              </a:tblPr>
              <a:tblGrid>
                <a:gridCol w="1810985">
                  <a:extLst>
                    <a:ext uri="{9D8B030D-6E8A-4147-A177-3AD203B41FA5}">
                      <a16:colId xmlns:a16="http://schemas.microsoft.com/office/drawing/2014/main" val="2009397661"/>
                    </a:ext>
                  </a:extLst>
                </a:gridCol>
                <a:gridCol w="4100867">
                  <a:extLst>
                    <a:ext uri="{9D8B030D-6E8A-4147-A177-3AD203B41FA5}">
                      <a16:colId xmlns:a16="http://schemas.microsoft.com/office/drawing/2014/main" val="2873505482"/>
                    </a:ext>
                  </a:extLst>
                </a:gridCol>
              </a:tblGrid>
              <a:tr h="381565">
                <a:tc>
                  <a:txBody>
                    <a:bodyPr/>
                    <a:lstStyle/>
                    <a:p>
                      <a:pPr marL="0" marR="0" fontAlgn="t">
                        <a:buNone/>
                      </a:pPr>
                      <a:r>
                        <a:rPr lang="en-IN" sz="1800" b="0">
                          <a:effectLst/>
                          <a:latin typeface="Times New Roman" panose="02020603050405020304" pitchFamily="18" charset="0"/>
                          <a:cs typeface="Times New Roman" panose="02020603050405020304" pitchFamily="18" charset="0"/>
                        </a:rPr>
                        <a:t>Table</a:t>
                      </a:r>
                    </a:p>
                  </a:txBody>
                  <a:tcPr marL="50800" marR="50800" marT="50800" marB="50800">
                    <a:solidFill>
                      <a:schemeClr val="accent3"/>
                    </a:solidFill>
                  </a:tcPr>
                </a:tc>
                <a:tc>
                  <a:txBody>
                    <a:bodyPr/>
                    <a:lstStyle/>
                    <a:p>
                      <a:pPr marL="0" marR="0" fontAlgn="t">
                        <a:buNone/>
                      </a:pPr>
                      <a:r>
                        <a:rPr lang="en-IN" sz="1800" b="0">
                          <a:effectLst/>
                          <a:latin typeface="Times New Roman" panose="02020603050405020304" pitchFamily="18" charset="0"/>
                          <a:cs typeface="Times New Roman" panose="02020603050405020304" pitchFamily="18" charset="0"/>
                        </a:rPr>
                        <a:t>What it stores</a:t>
                      </a:r>
                    </a:p>
                  </a:txBody>
                  <a:tcPr marL="50800" marR="50800" marT="50800" marB="50800">
                    <a:solidFill>
                      <a:schemeClr val="accent3"/>
                    </a:solidFill>
                  </a:tcPr>
                </a:tc>
                <a:extLst>
                  <a:ext uri="{0D108BD9-81ED-4DB2-BD59-A6C34878D82A}">
                    <a16:rowId xmlns:a16="http://schemas.microsoft.com/office/drawing/2014/main" val="2682565079"/>
                  </a:ext>
                </a:extLst>
              </a:tr>
              <a:tr h="660004">
                <a:tc>
                  <a:txBody>
                    <a:bodyPr/>
                    <a:lstStyle/>
                    <a:p>
                      <a:pPr marL="0" marR="0" fontAlgn="t">
                        <a:buNone/>
                      </a:pPr>
                      <a:r>
                        <a:rPr lang="en-IN" sz="1800" b="0" dirty="0">
                          <a:effectLst/>
                          <a:latin typeface="Times New Roman" panose="02020603050405020304" pitchFamily="18" charset="0"/>
                          <a:cs typeface="Times New Roman" panose="02020603050405020304" pitchFamily="18" charset="0"/>
                        </a:rPr>
                        <a:t>users</a:t>
                      </a:r>
                    </a:p>
                  </a:txBody>
                  <a:tcPr marL="50800" marR="50800" marT="50800" marB="50800">
                    <a:solidFill>
                      <a:schemeClr val="accent3"/>
                    </a:solidFill>
                  </a:tcPr>
                </a:tc>
                <a:tc>
                  <a:txBody>
                    <a:bodyPr/>
                    <a:lstStyle/>
                    <a:p>
                      <a:pPr marL="0" marR="0" fontAlgn="t">
                        <a:buNone/>
                      </a:pPr>
                      <a:r>
                        <a:rPr lang="en-IN" sz="1800" b="0" dirty="0">
                          <a:effectLst/>
                          <a:latin typeface="Times New Roman" panose="02020603050405020304" pitchFamily="18" charset="0"/>
                          <a:cs typeface="Times New Roman" panose="02020603050405020304" pitchFamily="18" charset="0"/>
                        </a:rPr>
                        <a:t>Name, department, course, email, password hash, role, roll number</a:t>
                      </a:r>
                    </a:p>
                  </a:txBody>
                  <a:tcPr marL="50800" marR="50800" marT="50800" marB="50800">
                    <a:lnB w="6350" cap="flat" cmpd="sng" algn="ctr">
                      <a:noFill/>
                      <a:prstDash val="solid"/>
                      <a:miter lim="800000"/>
                    </a:lnB>
                    <a:solidFill>
                      <a:schemeClr val="accent3"/>
                    </a:solidFill>
                  </a:tcPr>
                </a:tc>
                <a:extLst>
                  <a:ext uri="{0D108BD9-81ED-4DB2-BD59-A6C34878D82A}">
                    <a16:rowId xmlns:a16="http://schemas.microsoft.com/office/drawing/2014/main" val="3273484476"/>
                  </a:ext>
                </a:extLst>
              </a:tr>
              <a:tr h="660004">
                <a:tc>
                  <a:txBody>
                    <a:bodyPr/>
                    <a:lstStyle/>
                    <a:p>
                      <a:pPr marL="0" marR="0" fontAlgn="t">
                        <a:buNone/>
                      </a:pPr>
                      <a:r>
                        <a:rPr lang="en-IN" sz="1800" b="0">
                          <a:effectLst/>
                          <a:latin typeface="Times New Roman" panose="02020603050405020304" pitchFamily="18" charset="0"/>
                          <a:cs typeface="Times New Roman" panose="02020603050405020304" pitchFamily="18" charset="0"/>
                        </a:rPr>
                        <a:t>analyses</a:t>
                      </a:r>
                    </a:p>
                  </a:txBody>
                  <a:tcPr marL="50800" marR="50800" marT="50800" marB="50800">
                    <a:lnR w="6350" cap="flat" cmpd="sng" algn="ctr">
                      <a:noFill/>
                      <a:prstDash val="solid"/>
                      <a:miter lim="800000"/>
                    </a:lnR>
                    <a:solidFill>
                      <a:schemeClr val="accent3"/>
                    </a:solidFill>
                  </a:tcPr>
                </a:tc>
                <a:tc>
                  <a:txBody>
                    <a:bodyPr/>
                    <a:lstStyle/>
                    <a:p>
                      <a:pPr marL="0" marR="0" fontAlgn="t">
                        <a:buNone/>
                      </a:pPr>
                      <a:r>
                        <a:rPr lang="en-IN" sz="1800" b="0" dirty="0">
                          <a:effectLst/>
                          <a:latin typeface="Times New Roman" panose="02020603050405020304" pitchFamily="18" charset="0"/>
                          <a:cs typeface="Times New Roman" panose="02020603050405020304" pitchFamily="18" charset="0"/>
                        </a:rPr>
                        <a:t>Question analysis results — BT level, syllabus, difficulty, quality</a:t>
                      </a:r>
                    </a:p>
                  </a:txBody>
                  <a:tcPr marL="50800" marR="50800" marT="50800" marB="50800">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739377475"/>
                  </a:ext>
                </a:extLst>
              </a:tr>
              <a:tr h="660004">
                <a:tc>
                  <a:txBody>
                    <a:bodyPr/>
                    <a:lstStyle/>
                    <a:p>
                      <a:pPr marL="0" marR="0" fontAlgn="t">
                        <a:buNone/>
                      </a:pPr>
                      <a:r>
                        <a:rPr lang="en-IN" sz="1800" b="0">
                          <a:effectLst/>
                          <a:latin typeface="Times New Roman" panose="02020603050405020304" pitchFamily="18" charset="0"/>
                          <a:cs typeface="Times New Roman" panose="02020603050405020304" pitchFamily="18" charset="0"/>
                        </a:rPr>
                        <a:t>feedback_log</a:t>
                      </a:r>
                    </a:p>
                  </a:txBody>
                  <a:tcPr marL="50800" marR="50800" marT="50800" marB="50800">
                    <a:solidFill>
                      <a:schemeClr val="accent3"/>
                    </a:solidFill>
                  </a:tcPr>
                </a:tc>
                <a:tc>
                  <a:txBody>
                    <a:bodyPr/>
                    <a:lstStyle/>
                    <a:p>
                      <a:pPr marL="0" marR="0" fontAlgn="t">
                        <a:buNone/>
                      </a:pPr>
                      <a:r>
                        <a:rPr lang="en-IN" sz="1800" b="0" dirty="0">
                          <a:effectLst/>
                          <a:latin typeface="Times New Roman" panose="02020603050405020304" pitchFamily="18" charset="0"/>
                          <a:cs typeface="Times New Roman" panose="02020603050405020304" pitchFamily="18" charset="0"/>
                        </a:rPr>
                        <a:t>Teacher BT level and written feedback on questions</a:t>
                      </a:r>
                    </a:p>
                  </a:txBody>
                  <a:tcPr marL="50800" marR="50800" marT="50800" marB="50800">
                    <a:lnT w="6350" cap="flat" cmpd="sng" algn="ctr">
                      <a:noFill/>
                      <a:prstDash val="solid"/>
                      <a:miter lim="800000"/>
                    </a:lnT>
                    <a:solidFill>
                      <a:schemeClr val="accent3"/>
                    </a:solidFill>
                  </a:tcPr>
                </a:tc>
                <a:extLst>
                  <a:ext uri="{0D108BD9-81ED-4DB2-BD59-A6C34878D82A}">
                    <a16:rowId xmlns:a16="http://schemas.microsoft.com/office/drawing/2014/main" val="250558347"/>
                  </a:ext>
                </a:extLst>
              </a:tr>
              <a:tr h="660004">
                <a:tc>
                  <a:txBody>
                    <a:bodyPr/>
                    <a:lstStyle/>
                    <a:p>
                      <a:pPr marL="0" marR="0" fontAlgn="t">
                        <a:buNone/>
                      </a:pPr>
                      <a:r>
                        <a:rPr lang="en-IN" sz="1800" b="0">
                          <a:effectLst/>
                          <a:latin typeface="Times New Roman" panose="02020603050405020304" pitchFamily="18" charset="0"/>
                          <a:cs typeface="Times New Roman" panose="02020603050405020304" pitchFamily="18" charset="0"/>
                        </a:rPr>
                        <a:t>evaluations</a:t>
                      </a:r>
                    </a:p>
                  </a:txBody>
                  <a:tcPr marL="50800" marR="50800" marT="50800" marB="50800">
                    <a:solidFill>
                      <a:schemeClr val="accent3"/>
                    </a:solidFill>
                  </a:tcPr>
                </a:tc>
                <a:tc>
                  <a:txBody>
                    <a:bodyPr/>
                    <a:lstStyle/>
                    <a:p>
                      <a:pPr marL="0" marR="0" fontAlgn="t">
                        <a:buNone/>
                      </a:pPr>
                      <a:r>
                        <a:rPr lang="en-IN" sz="1800" b="0" dirty="0">
                          <a:effectLst/>
                          <a:latin typeface="Times New Roman" panose="02020603050405020304" pitchFamily="18" charset="0"/>
                          <a:cs typeface="Times New Roman" panose="02020603050405020304" pitchFamily="18" charset="0"/>
                        </a:rPr>
                        <a:t>Student answer scores — keyword, semantic, final marks, grade, AI feedback</a:t>
                      </a:r>
                    </a:p>
                  </a:txBody>
                  <a:tcPr marL="50800" marR="50800" marT="50800" marB="50800">
                    <a:solidFill>
                      <a:schemeClr val="accent3"/>
                    </a:solidFill>
                  </a:tcPr>
                </a:tc>
                <a:extLst>
                  <a:ext uri="{0D108BD9-81ED-4DB2-BD59-A6C34878D82A}">
                    <a16:rowId xmlns:a16="http://schemas.microsoft.com/office/drawing/2014/main" val="383698258"/>
                  </a:ext>
                </a:extLst>
              </a:tr>
            </a:tbl>
          </a:graphicData>
        </a:graphic>
      </p:graphicFrame>
      <p:sp>
        <p:nvSpPr>
          <p:cNvPr id="8" name="Rectangle 2">
            <a:extLst>
              <a:ext uri="{FF2B5EF4-FFF2-40B4-BE49-F238E27FC236}">
                <a16:creationId xmlns:a16="http://schemas.microsoft.com/office/drawing/2014/main" id="{CF2947B4-840D-2BB8-5D14-3F585C68F744}"/>
              </a:ext>
            </a:extLst>
          </p:cNvPr>
          <p:cNvSpPr>
            <a:spLocks noChangeArrowheads="1"/>
          </p:cNvSpPr>
          <p:nvPr/>
        </p:nvSpPr>
        <p:spPr bwMode="auto">
          <a:xfrm>
            <a:off x="184148" y="1037719"/>
            <a:ext cx="1185849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 Backend and Database Development</a:t>
            </a:r>
            <a:endPar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complete backend was built using Python and Flask. Flask manages all routes, user sessions, database operations, and Claude API calls. The SQLite database auto-generates on first run with the following tables:  </a:t>
            </a:r>
            <a:endParaRPr kumimoji="0" lang="en-US" altLang="en-US" sz="3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4A8A291-80AE-E5AD-DAE7-C1DF6F86B4CE}"/>
              </a:ext>
            </a:extLst>
          </p:cNvPr>
          <p:cNvSpPr txBox="1"/>
          <p:nvPr/>
        </p:nvSpPr>
        <p:spPr>
          <a:xfrm>
            <a:off x="7027333" y="5312449"/>
            <a:ext cx="6096000"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Figure 3 : Terminal — app.py running on local server</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D008E6C7-F0F7-5EB1-4C8B-60D43377A93B}"/>
              </a:ext>
            </a:extLst>
          </p:cNvPr>
          <p:cNvPicPr>
            <a:picLocks noChangeAspect="1"/>
          </p:cNvPicPr>
          <p:nvPr/>
        </p:nvPicPr>
        <p:blipFill>
          <a:blip r:embed="rId3"/>
          <a:stretch>
            <a:fillRect/>
          </a:stretch>
        </p:blipFill>
        <p:spPr>
          <a:xfrm>
            <a:off x="6324054" y="2518323"/>
            <a:ext cx="5811406" cy="2583445"/>
          </a:xfrm>
          <a:prstGeom prst="rect">
            <a:avLst/>
          </a:prstGeom>
        </p:spPr>
      </p:pic>
    </p:spTree>
    <p:extLst>
      <p:ext uri="{BB962C8B-B14F-4D97-AF65-F5344CB8AC3E}">
        <p14:creationId xmlns:p14="http://schemas.microsoft.com/office/powerpoint/2010/main" val="859909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5AE38-22A9-B82D-A90C-BFAACC448F7F}"/>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A0A4638C-C923-691F-4131-3B33B5278E1C}"/>
              </a:ext>
            </a:extLst>
          </p:cNvPr>
          <p:cNvSpPr>
            <a:spLocks noChangeArrowheads="1"/>
          </p:cNvSpPr>
          <p:nvPr/>
        </p:nvSpPr>
        <p:spPr bwMode="auto">
          <a:xfrm>
            <a:off x="81620" y="-26413"/>
            <a:ext cx="11842156"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Frontend Development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pages were designed using HTML, CSS, and JavaScript. The system has the following pages — Home, Login, Register, and the main Assessment page with four tabs: Question Analyzer, Answer Evaluator, Level Detector, and Feedback Generator. The complete design follows IIS University's official maroon (#8B1A1A) and gold (#C8972A) color theme using Fraunces and Plus Jakarta Sans fonts.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i="1" dirty="0">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i="1"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Figure 4: Home Page                                                                                               </a:t>
            </a:r>
            <a:r>
              <a:rPr lang="en-US" altLang="en-US" i="1" dirty="0">
                <a:latin typeface="Times New Roman" panose="02020603050405020304" pitchFamily="18" charset="0"/>
                <a:cs typeface="Times New Roman" panose="02020603050405020304" pitchFamily="18" charset="0"/>
              </a:rPr>
              <a:t>Figure 5: Assessment Page — Four Tabs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i="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pic>
        <p:nvPicPr>
          <p:cNvPr id="9" name="Picture 8">
            <a:extLst>
              <a:ext uri="{FF2B5EF4-FFF2-40B4-BE49-F238E27FC236}">
                <a16:creationId xmlns:a16="http://schemas.microsoft.com/office/drawing/2014/main" id="{B6ED6385-769C-E93D-B1EB-069854A1ADA6}"/>
              </a:ext>
            </a:extLst>
          </p:cNvPr>
          <p:cNvPicPr>
            <a:picLocks noChangeAspect="1"/>
          </p:cNvPicPr>
          <p:nvPr/>
        </p:nvPicPr>
        <p:blipFill>
          <a:blip r:embed="rId3"/>
          <a:stretch>
            <a:fillRect/>
          </a:stretch>
        </p:blipFill>
        <p:spPr>
          <a:xfrm>
            <a:off x="81620" y="1918775"/>
            <a:ext cx="5898556" cy="3514225"/>
          </a:xfrm>
          <a:prstGeom prst="rect">
            <a:avLst/>
          </a:prstGeom>
        </p:spPr>
      </p:pic>
      <p:pic>
        <p:nvPicPr>
          <p:cNvPr id="10" name="Picture 9">
            <a:extLst>
              <a:ext uri="{FF2B5EF4-FFF2-40B4-BE49-F238E27FC236}">
                <a16:creationId xmlns:a16="http://schemas.microsoft.com/office/drawing/2014/main" id="{46B2EF57-84F1-0ED0-6D8B-2CC34EE94570}"/>
              </a:ext>
            </a:extLst>
          </p:cNvPr>
          <p:cNvPicPr>
            <a:picLocks noChangeAspect="1"/>
          </p:cNvPicPr>
          <p:nvPr/>
        </p:nvPicPr>
        <p:blipFill>
          <a:blip r:embed="rId4"/>
          <a:stretch>
            <a:fillRect/>
          </a:stretch>
        </p:blipFill>
        <p:spPr>
          <a:xfrm>
            <a:off x="6492240" y="3343740"/>
            <a:ext cx="5237281" cy="1798702"/>
          </a:xfrm>
          <a:prstGeom prst="rect">
            <a:avLst/>
          </a:prstGeom>
        </p:spPr>
      </p:pic>
    </p:spTree>
    <p:extLst>
      <p:ext uri="{BB962C8B-B14F-4D97-AF65-F5344CB8AC3E}">
        <p14:creationId xmlns:p14="http://schemas.microsoft.com/office/powerpoint/2010/main" val="1512597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524BB-D4B7-8C5D-8501-CE2EAF3EFB64}"/>
            </a:ext>
          </a:extLst>
        </p:cNvPr>
        <p:cNvGrpSpPr/>
        <p:nvPr/>
      </p:nvGrpSpPr>
      <p:grpSpPr>
        <a:xfrm>
          <a:off x="0" y="0"/>
          <a:ext cx="0" cy="0"/>
          <a:chOff x="0" y="0"/>
          <a:chExt cx="0" cy="0"/>
        </a:xfrm>
      </p:grpSpPr>
      <p:graphicFrame>
        <p:nvGraphicFramePr>
          <p:cNvPr id="17" name="Table 16">
            <a:extLst>
              <a:ext uri="{FF2B5EF4-FFF2-40B4-BE49-F238E27FC236}">
                <a16:creationId xmlns:a16="http://schemas.microsoft.com/office/drawing/2014/main" id="{0540B786-46F0-E0E5-492F-D292DA0C6DED}"/>
              </a:ext>
            </a:extLst>
          </p:cNvPr>
          <p:cNvGraphicFramePr>
            <a:graphicFrameLocks noGrp="1"/>
          </p:cNvGraphicFramePr>
          <p:nvPr>
            <p:extLst>
              <p:ext uri="{D42A27DB-BD31-4B8C-83A1-F6EECF244321}">
                <p14:modId xmlns:p14="http://schemas.microsoft.com/office/powerpoint/2010/main" val="614222234"/>
              </p:ext>
            </p:extLst>
          </p:nvPr>
        </p:nvGraphicFramePr>
        <p:xfrm>
          <a:off x="299450" y="2304288"/>
          <a:ext cx="5434453" cy="2296096"/>
        </p:xfrm>
        <a:graphic>
          <a:graphicData uri="http://schemas.openxmlformats.org/drawingml/2006/table">
            <a:tbl>
              <a:tblPr/>
              <a:tblGrid>
                <a:gridCol w="645866">
                  <a:extLst>
                    <a:ext uri="{9D8B030D-6E8A-4147-A177-3AD203B41FA5}">
                      <a16:colId xmlns:a16="http://schemas.microsoft.com/office/drawing/2014/main" val="3141943147"/>
                    </a:ext>
                  </a:extLst>
                </a:gridCol>
                <a:gridCol w="4788587">
                  <a:extLst>
                    <a:ext uri="{9D8B030D-6E8A-4147-A177-3AD203B41FA5}">
                      <a16:colId xmlns:a16="http://schemas.microsoft.com/office/drawing/2014/main" val="662654541"/>
                    </a:ext>
                  </a:extLst>
                </a:gridCol>
              </a:tblGrid>
              <a:tr h="514882">
                <a:tc>
                  <a:txBody>
                    <a:bodyPr/>
                    <a:lstStyle/>
                    <a:p>
                      <a:pPr marL="0" marR="0" fontAlgn="t">
                        <a:buNone/>
                      </a:pPr>
                      <a:r>
                        <a:rPr lang="en-IN" sz="1800">
                          <a:effectLst/>
                          <a:latin typeface="Times New Roman" panose="02020603050405020304" pitchFamily="18" charset="0"/>
                        </a:rPr>
                        <a:t>Role</a:t>
                      </a:r>
                    </a:p>
                  </a:txBody>
                  <a:tcPr marL="50800" marR="50800" marT="50800" marB="50800">
                    <a:lnL>
                      <a:noFill/>
                    </a:lnL>
                    <a:lnR>
                      <a:noFill/>
                    </a:lnR>
                    <a:lnT>
                      <a:noFill/>
                    </a:lnT>
                    <a:lnB>
                      <a:noFill/>
                    </a:lnB>
                    <a:solidFill>
                      <a:schemeClr val="accent3"/>
                    </a:solidFill>
                  </a:tcPr>
                </a:tc>
                <a:tc>
                  <a:txBody>
                    <a:bodyPr/>
                    <a:lstStyle/>
                    <a:p>
                      <a:pPr marL="0" marR="0" fontAlgn="t">
                        <a:buNone/>
                      </a:pPr>
                      <a:r>
                        <a:rPr lang="en-IN" sz="1800" dirty="0">
                          <a:effectLst/>
                          <a:latin typeface="Times New Roman" panose="02020603050405020304" pitchFamily="18" charset="0"/>
                        </a:rPr>
                        <a:t>Access</a:t>
                      </a:r>
                    </a:p>
                  </a:txBody>
                  <a:tcPr marL="50800" marR="50800" marT="50800" marB="50800">
                    <a:lnL>
                      <a:noFill/>
                    </a:lnL>
                    <a:lnR>
                      <a:noFill/>
                    </a:lnR>
                    <a:lnT>
                      <a:noFill/>
                    </a:lnT>
                    <a:lnB>
                      <a:noFill/>
                    </a:lnB>
                    <a:solidFill>
                      <a:schemeClr val="accent3"/>
                    </a:solidFill>
                  </a:tcPr>
                </a:tc>
                <a:extLst>
                  <a:ext uri="{0D108BD9-81ED-4DB2-BD59-A6C34878D82A}">
                    <a16:rowId xmlns:a16="http://schemas.microsoft.com/office/drawing/2014/main" val="515061968"/>
                  </a:ext>
                </a:extLst>
              </a:tr>
              <a:tr h="890607">
                <a:tc>
                  <a:txBody>
                    <a:bodyPr/>
                    <a:lstStyle/>
                    <a:p>
                      <a:pPr marL="0" marR="0" fontAlgn="t">
                        <a:buNone/>
                      </a:pPr>
                      <a:r>
                        <a:rPr lang="en-IN" sz="1800">
                          <a:effectLst/>
                          <a:latin typeface="Times New Roman" panose="02020603050405020304" pitchFamily="18" charset="0"/>
                        </a:rPr>
                        <a:t>Teacher</a:t>
                      </a:r>
                    </a:p>
                  </a:txBody>
                  <a:tcPr marL="50800" marR="50800" marT="50800" marB="50800">
                    <a:lnL>
                      <a:noFill/>
                    </a:lnL>
                    <a:lnR>
                      <a:noFill/>
                    </a:lnR>
                    <a:lnT>
                      <a:noFill/>
                    </a:lnT>
                    <a:lnB>
                      <a:noFill/>
                    </a:lnB>
                    <a:solidFill>
                      <a:schemeClr val="accent3"/>
                    </a:solidFill>
                  </a:tcPr>
                </a:tc>
                <a:tc>
                  <a:txBody>
                    <a:bodyPr/>
                    <a:lstStyle/>
                    <a:p>
                      <a:pPr marL="0" marR="0" fontAlgn="t">
                        <a:buNone/>
                      </a:pPr>
                      <a:r>
                        <a:rPr lang="en-IN" sz="1800" dirty="0">
                          <a:effectLst/>
                          <a:latin typeface="Times New Roman" panose="02020603050405020304" pitchFamily="18" charset="0"/>
                        </a:rPr>
                        <a:t>Question Analyzer, Answer Evaluator, Level Detector, Feedback Generator</a:t>
                      </a:r>
                    </a:p>
                  </a:txBody>
                  <a:tcPr marL="50800" marR="50800" marT="50800" marB="50800">
                    <a:lnL>
                      <a:noFill/>
                    </a:lnL>
                    <a:lnR>
                      <a:noFill/>
                    </a:lnR>
                    <a:lnT>
                      <a:noFill/>
                    </a:lnT>
                    <a:lnB>
                      <a:noFill/>
                    </a:lnB>
                    <a:solidFill>
                      <a:schemeClr val="accent3"/>
                    </a:solidFill>
                  </a:tcPr>
                </a:tc>
                <a:extLst>
                  <a:ext uri="{0D108BD9-81ED-4DB2-BD59-A6C34878D82A}">
                    <a16:rowId xmlns:a16="http://schemas.microsoft.com/office/drawing/2014/main" val="3393594113"/>
                  </a:ext>
                </a:extLst>
              </a:tr>
              <a:tr h="890607">
                <a:tc>
                  <a:txBody>
                    <a:bodyPr/>
                    <a:lstStyle/>
                    <a:p>
                      <a:pPr marL="0" marR="0" fontAlgn="t">
                        <a:buNone/>
                      </a:pPr>
                      <a:r>
                        <a:rPr lang="en-IN" sz="1800">
                          <a:effectLst/>
                          <a:latin typeface="Times New Roman" panose="02020603050405020304" pitchFamily="18" charset="0"/>
                        </a:rPr>
                        <a:t>Student</a:t>
                      </a:r>
                    </a:p>
                  </a:txBody>
                  <a:tcPr marL="50800" marR="50800" marT="50800" marB="50800">
                    <a:lnL>
                      <a:noFill/>
                    </a:lnL>
                    <a:lnR>
                      <a:noFill/>
                    </a:lnR>
                    <a:lnT>
                      <a:noFill/>
                    </a:lnT>
                    <a:lnB>
                      <a:noFill/>
                    </a:lnB>
                    <a:solidFill>
                      <a:schemeClr val="accent3"/>
                    </a:solidFill>
                  </a:tcPr>
                </a:tc>
                <a:tc>
                  <a:txBody>
                    <a:bodyPr/>
                    <a:lstStyle/>
                    <a:p>
                      <a:pPr marL="0" marR="0" fontAlgn="t">
                        <a:buNone/>
                      </a:pPr>
                      <a:r>
                        <a:rPr lang="en-IN" sz="1800" dirty="0">
                          <a:effectLst/>
                          <a:latin typeface="Times New Roman" panose="02020603050405020304" pitchFamily="18" charset="0"/>
                        </a:rPr>
                        <a:t>Feedback Generator only — shows only their own feedback based on roll number</a:t>
                      </a:r>
                    </a:p>
                  </a:txBody>
                  <a:tcPr marL="50800" marR="50800" marT="50800" marB="50800">
                    <a:lnL>
                      <a:noFill/>
                    </a:lnL>
                    <a:lnR>
                      <a:noFill/>
                    </a:lnR>
                    <a:lnT>
                      <a:noFill/>
                    </a:lnT>
                    <a:lnB>
                      <a:noFill/>
                    </a:lnB>
                    <a:solidFill>
                      <a:schemeClr val="accent3"/>
                    </a:solidFill>
                  </a:tcPr>
                </a:tc>
                <a:extLst>
                  <a:ext uri="{0D108BD9-81ED-4DB2-BD59-A6C34878D82A}">
                    <a16:rowId xmlns:a16="http://schemas.microsoft.com/office/drawing/2014/main" val="2421614323"/>
                  </a:ext>
                </a:extLst>
              </a:tr>
            </a:tbl>
          </a:graphicData>
        </a:graphic>
      </p:graphicFrame>
      <p:sp>
        <p:nvSpPr>
          <p:cNvPr id="18" name="Rectangle 11">
            <a:extLst>
              <a:ext uri="{FF2B5EF4-FFF2-40B4-BE49-F238E27FC236}">
                <a16:creationId xmlns:a16="http://schemas.microsoft.com/office/drawing/2014/main" id="{83AE6E87-8985-F0DA-D648-2D038CDD41A0}"/>
              </a:ext>
            </a:extLst>
          </p:cNvPr>
          <p:cNvSpPr>
            <a:spLocks noChangeArrowheads="1"/>
          </p:cNvSpPr>
          <p:nvPr/>
        </p:nvSpPr>
        <p:spPr bwMode="auto">
          <a:xfrm>
            <a:off x="299450" y="543466"/>
            <a:ext cx="10682494"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 Role-Based Access</a:t>
            </a:r>
            <a:endPar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Separate registration and login were built for teachers and students. Teachers Create Account with name, department, course, email, and password. Students register with an additional roll number field. On login, Flask session stores the user's role. Based on role, access is restricted as follows: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3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6BE6C21F-3568-B8EF-5251-4F3FB618F402}"/>
              </a:ext>
            </a:extLst>
          </p:cNvPr>
          <p:cNvPicPr>
            <a:picLocks noChangeAspect="1"/>
          </p:cNvPicPr>
          <p:nvPr/>
        </p:nvPicPr>
        <p:blipFill>
          <a:blip r:embed="rId3"/>
          <a:stretch>
            <a:fillRect/>
          </a:stretch>
        </p:blipFill>
        <p:spPr>
          <a:xfrm>
            <a:off x="6474736" y="1903454"/>
            <a:ext cx="2362321" cy="4013406"/>
          </a:xfrm>
          <a:prstGeom prst="rect">
            <a:avLst/>
          </a:prstGeom>
        </p:spPr>
      </p:pic>
      <p:pic>
        <p:nvPicPr>
          <p:cNvPr id="22" name="Picture 21">
            <a:extLst>
              <a:ext uri="{FF2B5EF4-FFF2-40B4-BE49-F238E27FC236}">
                <a16:creationId xmlns:a16="http://schemas.microsoft.com/office/drawing/2014/main" id="{22443BF2-3ABD-BB3B-C6EF-86C63A2F93D5}"/>
              </a:ext>
            </a:extLst>
          </p:cNvPr>
          <p:cNvPicPr>
            <a:picLocks noChangeAspect="1"/>
          </p:cNvPicPr>
          <p:nvPr/>
        </p:nvPicPr>
        <p:blipFill>
          <a:blip r:embed="rId4"/>
          <a:stretch>
            <a:fillRect/>
          </a:stretch>
        </p:blipFill>
        <p:spPr>
          <a:xfrm>
            <a:off x="9422273" y="1936432"/>
            <a:ext cx="2470277" cy="4038808"/>
          </a:xfrm>
          <a:prstGeom prst="rect">
            <a:avLst/>
          </a:prstGeom>
        </p:spPr>
      </p:pic>
      <p:sp>
        <p:nvSpPr>
          <p:cNvPr id="23" name="TextBox 22">
            <a:extLst>
              <a:ext uri="{FF2B5EF4-FFF2-40B4-BE49-F238E27FC236}">
                <a16:creationId xmlns:a16="http://schemas.microsoft.com/office/drawing/2014/main" id="{DB69BBB1-18B1-E004-9140-3CE82E6139C5}"/>
              </a:ext>
            </a:extLst>
          </p:cNvPr>
          <p:cNvSpPr txBox="1"/>
          <p:nvPr/>
        </p:nvSpPr>
        <p:spPr>
          <a:xfrm>
            <a:off x="6885432" y="6135624"/>
            <a:ext cx="6501384" cy="369332"/>
          </a:xfrm>
          <a:prstGeom prst="rect">
            <a:avLst/>
          </a:prstGeom>
          <a:noFill/>
        </p:spPr>
        <p:txBody>
          <a:bodyPr wrap="square" rtlCol="0">
            <a:spAutoFit/>
          </a:bodyPr>
          <a:lstStyle/>
          <a:p>
            <a:r>
              <a:rPr lang="en-IN" b="1" i="1" dirty="0"/>
              <a:t>Figure 6: Login Page For Teacher and Student </a:t>
            </a:r>
            <a:endParaRPr lang="en-IN" dirty="0"/>
          </a:p>
        </p:txBody>
      </p:sp>
    </p:spTree>
    <p:extLst>
      <p:ext uri="{BB962C8B-B14F-4D97-AF65-F5344CB8AC3E}">
        <p14:creationId xmlns:p14="http://schemas.microsoft.com/office/powerpoint/2010/main" val="4169258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6ED83-1C70-79A5-1FFC-361815721B6B}"/>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2713A9CA-F647-938B-C91A-5407EDAEB182}"/>
              </a:ext>
            </a:extLst>
          </p:cNvPr>
          <p:cNvGraphicFramePr>
            <a:graphicFrameLocks noGrp="1"/>
          </p:cNvGraphicFramePr>
          <p:nvPr>
            <p:extLst>
              <p:ext uri="{D42A27DB-BD31-4B8C-83A1-F6EECF244321}">
                <p14:modId xmlns:p14="http://schemas.microsoft.com/office/powerpoint/2010/main" val="2945806388"/>
              </p:ext>
            </p:extLst>
          </p:nvPr>
        </p:nvGraphicFramePr>
        <p:xfrm>
          <a:off x="365760" y="2212848"/>
          <a:ext cx="4855464" cy="2267709"/>
        </p:xfrm>
        <a:graphic>
          <a:graphicData uri="http://schemas.openxmlformats.org/drawingml/2006/table">
            <a:tbl>
              <a:tblPr firstRow="1" firstCol="1" bandRow="1">
                <a:tableStyleId>{2D5ABB26-0587-4C30-8999-92F81FD0307C}</a:tableStyleId>
              </a:tblPr>
              <a:tblGrid>
                <a:gridCol w="1618488">
                  <a:extLst>
                    <a:ext uri="{9D8B030D-6E8A-4147-A177-3AD203B41FA5}">
                      <a16:colId xmlns:a16="http://schemas.microsoft.com/office/drawing/2014/main" val="3744549288"/>
                    </a:ext>
                  </a:extLst>
                </a:gridCol>
                <a:gridCol w="1618488">
                  <a:extLst>
                    <a:ext uri="{9D8B030D-6E8A-4147-A177-3AD203B41FA5}">
                      <a16:colId xmlns:a16="http://schemas.microsoft.com/office/drawing/2014/main" val="3555206047"/>
                    </a:ext>
                  </a:extLst>
                </a:gridCol>
                <a:gridCol w="1618488">
                  <a:extLst>
                    <a:ext uri="{9D8B030D-6E8A-4147-A177-3AD203B41FA5}">
                      <a16:colId xmlns:a16="http://schemas.microsoft.com/office/drawing/2014/main" val="2259889722"/>
                    </a:ext>
                  </a:extLst>
                </a:gridCol>
              </a:tblGrid>
              <a:tr h="347156">
                <a:tc>
                  <a:txBody>
                    <a:bodyPr/>
                    <a:lstStyle/>
                    <a:p>
                      <a:pPr>
                        <a:buNone/>
                      </a:pPr>
                      <a:r>
                        <a:rPr lang="en-IN" sz="1200">
                          <a:effectLst/>
                        </a:rPr>
                        <a:t>Grade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tc>
                  <a:txBody>
                    <a:bodyPr/>
                    <a:lstStyle/>
                    <a:p>
                      <a:pPr>
                        <a:buNone/>
                      </a:pPr>
                      <a:r>
                        <a:rPr lang="en-IN" sz="1200">
                          <a:effectLst/>
                        </a:rPr>
                        <a:t>Marks Range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tc>
                  <a:txBody>
                    <a:bodyPr/>
                    <a:lstStyle/>
                    <a:p>
                      <a:pPr>
                        <a:buNone/>
                      </a:pPr>
                      <a:r>
                        <a:rPr lang="en-IN" sz="1200" dirty="0">
                          <a:effectLst/>
                        </a:rPr>
                        <a:t>Performance</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extLst>
                  <a:ext uri="{0D108BD9-81ED-4DB2-BD59-A6C34878D82A}">
                    <a16:rowId xmlns:a16="http://schemas.microsoft.com/office/drawing/2014/main" val="4131040454"/>
                  </a:ext>
                </a:extLst>
              </a:tr>
              <a:tr h="347156">
                <a:tc>
                  <a:txBody>
                    <a:bodyPr/>
                    <a:lstStyle/>
                    <a:p>
                      <a:pPr>
                        <a:buNone/>
                      </a:pPr>
                      <a:r>
                        <a:rPr lang="en-IN" sz="1200">
                          <a:effectLst/>
                        </a:rPr>
                        <a:t>O — Outstanding</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tc>
                  <a:txBody>
                    <a:bodyPr/>
                    <a:lstStyle/>
                    <a:p>
                      <a:pPr>
                        <a:buNone/>
                      </a:pPr>
                      <a:r>
                        <a:rPr lang="en-IN" sz="1200">
                          <a:effectLst/>
                        </a:rPr>
                        <a:t>13.5 – 15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tc>
                  <a:txBody>
                    <a:bodyPr/>
                    <a:lstStyle/>
                    <a:p>
                      <a:pPr>
                        <a:buNone/>
                      </a:pPr>
                      <a:r>
                        <a:rPr lang="en-IN" sz="1200">
                          <a:effectLst/>
                        </a:rPr>
                        <a:t>Excellent performance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extLst>
                  <a:ext uri="{0D108BD9-81ED-4DB2-BD59-A6C34878D82A}">
                    <a16:rowId xmlns:a16="http://schemas.microsoft.com/office/drawing/2014/main" val="2019108086"/>
                  </a:ext>
                </a:extLst>
              </a:tr>
              <a:tr h="667909">
                <a:tc>
                  <a:txBody>
                    <a:bodyPr/>
                    <a:lstStyle/>
                    <a:p>
                      <a:pPr>
                        <a:buNone/>
                      </a:pPr>
                      <a:r>
                        <a:rPr lang="en-IN" sz="1200">
                          <a:effectLst/>
                        </a:rPr>
                        <a:t>A — Good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tc>
                  <a:txBody>
                    <a:bodyPr/>
                    <a:lstStyle/>
                    <a:p>
                      <a:pPr>
                        <a:buNone/>
                      </a:pPr>
                      <a:r>
                        <a:rPr lang="en-IN" sz="1200">
                          <a:effectLst/>
                        </a:rPr>
                        <a:t>10.5 – 13.4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tc>
                  <a:txBody>
                    <a:bodyPr/>
                    <a:lstStyle/>
                    <a:p>
                      <a:pPr>
                        <a:buNone/>
                      </a:pPr>
                      <a:r>
                        <a:rPr lang="en-IN" sz="1200" dirty="0">
                          <a:effectLst/>
                        </a:rPr>
                        <a:t>Good understanding</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extLst>
                  <a:ext uri="{0D108BD9-81ED-4DB2-BD59-A6C34878D82A}">
                    <a16:rowId xmlns:a16="http://schemas.microsoft.com/office/drawing/2014/main" val="526951479"/>
                  </a:ext>
                </a:extLst>
              </a:tr>
              <a:tr h="452744">
                <a:tc>
                  <a:txBody>
                    <a:bodyPr/>
                    <a:lstStyle/>
                    <a:p>
                      <a:pPr>
                        <a:buNone/>
                      </a:pPr>
                      <a:r>
                        <a:rPr lang="en-IN" sz="1200">
                          <a:effectLst/>
                        </a:rPr>
                        <a:t>B — Average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tc>
                  <a:txBody>
                    <a:bodyPr/>
                    <a:lstStyle/>
                    <a:p>
                      <a:pPr>
                        <a:buNone/>
                      </a:pPr>
                      <a:r>
                        <a:rPr lang="en-IN" sz="1200">
                          <a:effectLst/>
                        </a:rPr>
                        <a:t>7.5 – 10.4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tc>
                  <a:txBody>
                    <a:bodyPr/>
                    <a:lstStyle/>
                    <a:p>
                      <a:pPr>
                        <a:buNone/>
                      </a:pPr>
                      <a:r>
                        <a:rPr lang="en-IN" sz="1200" dirty="0">
                          <a:effectLst/>
                        </a:rPr>
                        <a:t>Needs improvement</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extLst>
                  <a:ext uri="{0D108BD9-81ED-4DB2-BD59-A6C34878D82A}">
                    <a16:rowId xmlns:a16="http://schemas.microsoft.com/office/drawing/2014/main" val="1890704836"/>
                  </a:ext>
                </a:extLst>
              </a:tr>
              <a:tr h="452744">
                <a:tc>
                  <a:txBody>
                    <a:bodyPr/>
                    <a:lstStyle/>
                    <a:p>
                      <a:pPr>
                        <a:buNone/>
                      </a:pPr>
                      <a:r>
                        <a:rPr lang="en-IN" sz="1200">
                          <a:effectLst/>
                        </a:rPr>
                        <a:t>C — Below Average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tc>
                  <a:txBody>
                    <a:bodyPr/>
                    <a:lstStyle/>
                    <a:p>
                      <a:pPr>
                        <a:buNone/>
                      </a:pPr>
                      <a:r>
                        <a:rPr lang="en-IN" sz="1200">
                          <a:effectLst/>
                        </a:rPr>
                        <a:t>Below 7.5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tc>
                  <a:txBody>
                    <a:bodyPr/>
                    <a:lstStyle/>
                    <a:p>
                      <a:pPr>
                        <a:buNone/>
                      </a:pPr>
                      <a:r>
                        <a:rPr lang="en-IN" sz="1200" dirty="0">
                          <a:effectLst/>
                        </a:rPr>
                        <a:t>Requires attention</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solidFill>
                      <a:schemeClr val="accent3"/>
                    </a:solidFill>
                  </a:tcPr>
                </a:tc>
                <a:extLst>
                  <a:ext uri="{0D108BD9-81ED-4DB2-BD59-A6C34878D82A}">
                    <a16:rowId xmlns:a16="http://schemas.microsoft.com/office/drawing/2014/main" val="501245018"/>
                  </a:ext>
                </a:extLst>
              </a:tr>
            </a:tbl>
          </a:graphicData>
        </a:graphic>
      </p:graphicFrame>
      <p:sp>
        <p:nvSpPr>
          <p:cNvPr id="8" name="Rectangle 1">
            <a:extLst>
              <a:ext uri="{FF2B5EF4-FFF2-40B4-BE49-F238E27FC236}">
                <a16:creationId xmlns:a16="http://schemas.microsoft.com/office/drawing/2014/main" id="{5EBDE4A0-6ADE-C6BA-EE86-0A6B913E0380}"/>
              </a:ext>
            </a:extLst>
          </p:cNvPr>
          <p:cNvSpPr>
            <a:spLocks noChangeArrowheads="1"/>
          </p:cNvSpPr>
          <p:nvPr/>
        </p:nvSpPr>
        <p:spPr bwMode="auto">
          <a:xfrm>
            <a:off x="277368" y="267777"/>
            <a:ext cx="1163116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  Answer Evaluation Pipeline</a:t>
            </a:r>
            <a:endPar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teacher uploads the student's answer sheet as a multi-page PDF. The PDF is uploaded once and all pages are scanned together. The system reads the left side of each page to detect which answer is written where — Answer 1, Answer 2, Answer 3. As per CA rule, the paper has 4 questions but the student attempts any 3. If a question is not attempted, it shows 0 marks. Each detected answer is passed through Agents 2, 3, and 4. The result is displayed in a student card showing name, roll number, subject, answer-wise scores, and total marks out of 15 with grade.</a:t>
            </a:r>
            <a:endParaRPr kumimoji="0" lang="en-US" altLang="en-US" sz="2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9CF9A69-88FA-766B-92FF-231DF669D0B5}"/>
              </a:ext>
            </a:extLst>
          </p:cNvPr>
          <p:cNvPicPr>
            <a:picLocks noChangeAspect="1"/>
          </p:cNvPicPr>
          <p:nvPr/>
        </p:nvPicPr>
        <p:blipFill>
          <a:blip r:embed="rId3"/>
          <a:stretch>
            <a:fillRect/>
          </a:stretch>
        </p:blipFill>
        <p:spPr>
          <a:xfrm>
            <a:off x="5654040" y="2240586"/>
            <a:ext cx="6172200" cy="3271520"/>
          </a:xfrm>
          <a:prstGeom prst="rect">
            <a:avLst/>
          </a:prstGeom>
        </p:spPr>
      </p:pic>
      <p:sp>
        <p:nvSpPr>
          <p:cNvPr id="13" name="TextBox 12">
            <a:extLst>
              <a:ext uri="{FF2B5EF4-FFF2-40B4-BE49-F238E27FC236}">
                <a16:creationId xmlns:a16="http://schemas.microsoft.com/office/drawing/2014/main" id="{05CC4AF7-5A30-7B66-8970-8F1756A27491}"/>
              </a:ext>
            </a:extLst>
          </p:cNvPr>
          <p:cNvSpPr txBox="1"/>
          <p:nvPr/>
        </p:nvSpPr>
        <p:spPr>
          <a:xfrm>
            <a:off x="5900166" y="5661583"/>
            <a:ext cx="6094476" cy="646331"/>
          </a:xfrm>
          <a:prstGeom prst="rect">
            <a:avLst/>
          </a:prstGeom>
          <a:noFill/>
        </p:spPr>
        <p:txBody>
          <a:bodyPr wrap="square">
            <a:spAutoFit/>
          </a:bodyPr>
          <a:lstStyle/>
          <a:p>
            <a:r>
              <a:rPr lang="en-IN" sz="1800" b="1" i="1" dirty="0">
                <a:solidFill>
                  <a:srgbClr val="000000"/>
                </a:solidFill>
                <a:effectLst/>
                <a:latin typeface="Times New Roman" panose="02020603050405020304" pitchFamily="18" charset="0"/>
                <a:ea typeface="Times New Roman" panose="02020603050405020304" pitchFamily="18" charset="0"/>
              </a:rPr>
              <a:t> Figure 8: Answer Evaluator — Student Card with Total Marks and Grade</a:t>
            </a:r>
            <a:endParaRPr lang="en-IN" dirty="0">
              <a:solidFill>
                <a:srgbClr val="000000"/>
              </a:solidFill>
            </a:endParaRPr>
          </a:p>
        </p:txBody>
      </p:sp>
    </p:spTree>
    <p:extLst>
      <p:ext uri="{BB962C8B-B14F-4D97-AF65-F5344CB8AC3E}">
        <p14:creationId xmlns:p14="http://schemas.microsoft.com/office/powerpoint/2010/main" val="1879494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CA8DE-4A2C-A00E-FB2D-F08F8A41CC45}"/>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58722310-B09A-3BFF-65AC-1FCD799FB4E5}"/>
              </a:ext>
            </a:extLst>
          </p:cNvPr>
          <p:cNvSpPr>
            <a:spLocks noChangeArrowheads="1"/>
          </p:cNvSpPr>
          <p:nvPr/>
        </p:nvSpPr>
        <p:spPr bwMode="auto">
          <a:xfrm>
            <a:off x="195072" y="0"/>
            <a:ext cx="1163116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solidFill>
                  <a:srgbClr val="000000"/>
                </a:solidFill>
                <a:latin typeface="Times New Roman" panose="02020603050405020304" pitchFamily="18" charset="0"/>
                <a:cs typeface="Times New Roman" panose="02020603050405020304" pitchFamily="18" charset="0"/>
              </a:rPr>
              <a:t> </a:t>
            </a:r>
            <a:endParaRPr lang="en-IN" dirty="0">
              <a:solidFill>
                <a:srgbClr val="000000"/>
              </a:solidFill>
              <a:latin typeface="Times New Roman" panose="02020603050405020304" pitchFamily="18" charset="0"/>
              <a:cs typeface="Times New Roman" panose="02020603050405020304" pitchFamily="18" charset="0"/>
            </a:endParaRPr>
          </a:p>
          <a:p>
            <a:pPr algn="just"/>
            <a:r>
              <a:rPr lang="en-IN" b="1" dirty="0">
                <a:solidFill>
                  <a:srgbClr val="000000"/>
                </a:solidFill>
                <a:latin typeface="Times New Roman" panose="02020603050405020304" pitchFamily="18" charset="0"/>
                <a:cs typeface="Times New Roman" panose="02020603050405020304" pitchFamily="18" charset="0"/>
              </a:rPr>
              <a:t>3.7 Testing and Deployment</a:t>
            </a:r>
            <a:endParaRPr lang="en-IN" dirty="0">
              <a:solidFill>
                <a:srgbClr val="000000"/>
              </a:solidFill>
              <a:latin typeface="Times New Roman" panose="02020603050405020304" pitchFamily="18" charset="0"/>
              <a:cs typeface="Times New Roman" panose="02020603050405020304" pitchFamily="18" charset="0"/>
            </a:endParaRPr>
          </a:p>
          <a:p>
            <a:pPr algn="just"/>
            <a:r>
              <a:rPr lang="en-IN" dirty="0">
                <a:solidFill>
                  <a:srgbClr val="000000"/>
                </a:solidFill>
                <a:latin typeface="Times New Roman" panose="02020603050405020304" pitchFamily="18" charset="0"/>
                <a:cs typeface="Times New Roman" panose="02020603050405020304" pitchFamily="18" charset="0"/>
              </a:rPr>
              <a:t>The system was tested using real Semester 5 question papers uploaded as images and PDFs, and student answer sheets uploaded as scanned PDFs. All features including question extraction, BT level detection, syllabus check, answer evaluation, CO attainment report, student feedback, and Excel download were tested and verified. The application runs locally by executing python app.py and is accessible in the browser at </a:t>
            </a:r>
            <a:r>
              <a:rPr lang="en-IN" u="sng" dirty="0">
                <a:solidFill>
                  <a:srgbClr val="00000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http://127.0.0.1:5000</a:t>
            </a:r>
            <a:r>
              <a:rPr lang="en-IN" dirty="0">
                <a:solidFill>
                  <a:srgbClr val="000000"/>
                </a:solidFill>
                <a:latin typeface="Times New Roman" panose="02020603050405020304" pitchFamily="18" charset="0"/>
                <a:cs typeface="Times New Roman" panose="02020603050405020304" pitchFamily="18" charset="0"/>
              </a:rPr>
              <a:t>.</a:t>
            </a:r>
          </a:p>
        </p:txBody>
      </p:sp>
      <p:pic>
        <p:nvPicPr>
          <p:cNvPr id="2" name="Picture 1">
            <a:extLst>
              <a:ext uri="{FF2B5EF4-FFF2-40B4-BE49-F238E27FC236}">
                <a16:creationId xmlns:a16="http://schemas.microsoft.com/office/drawing/2014/main" id="{F20877E3-54D2-C7E7-CCA7-FB55B023C606}"/>
              </a:ext>
            </a:extLst>
          </p:cNvPr>
          <p:cNvPicPr>
            <a:picLocks noChangeAspect="1"/>
          </p:cNvPicPr>
          <p:nvPr/>
        </p:nvPicPr>
        <p:blipFill>
          <a:blip r:embed="rId4"/>
          <a:stretch>
            <a:fillRect/>
          </a:stretch>
        </p:blipFill>
        <p:spPr>
          <a:xfrm>
            <a:off x="517651" y="2151570"/>
            <a:ext cx="7113807" cy="3097086"/>
          </a:xfrm>
          <a:prstGeom prst="rect">
            <a:avLst/>
          </a:prstGeom>
        </p:spPr>
      </p:pic>
      <p:sp>
        <p:nvSpPr>
          <p:cNvPr id="4" name="TextBox 3">
            <a:extLst>
              <a:ext uri="{FF2B5EF4-FFF2-40B4-BE49-F238E27FC236}">
                <a16:creationId xmlns:a16="http://schemas.microsoft.com/office/drawing/2014/main" id="{AD519153-DAF8-F65A-477A-DE03F7A66EEE}"/>
              </a:ext>
            </a:extLst>
          </p:cNvPr>
          <p:cNvSpPr txBox="1"/>
          <p:nvPr/>
        </p:nvSpPr>
        <p:spPr>
          <a:xfrm>
            <a:off x="1027316" y="5276568"/>
            <a:ext cx="6094476" cy="369332"/>
          </a:xfrm>
          <a:prstGeom prst="rect">
            <a:avLst/>
          </a:prstGeom>
          <a:noFill/>
        </p:spPr>
        <p:txBody>
          <a:bodyPr wrap="square">
            <a:spAutoFit/>
          </a:bodyPr>
          <a:lstStyle/>
          <a:p>
            <a:r>
              <a:rPr lang="en-IN" sz="1800" b="1" i="1" dirty="0">
                <a:effectLst/>
                <a:latin typeface="Times New Roman" panose="02020603050405020304" pitchFamily="18" charset="0"/>
                <a:ea typeface="Times New Roman" panose="02020603050405020304" pitchFamily="18" charset="0"/>
              </a:rPr>
              <a:t> Figure 9: Question Analyzer — BT Level Results </a:t>
            </a:r>
            <a:endParaRPr lang="en-IN" dirty="0"/>
          </a:p>
        </p:txBody>
      </p:sp>
    </p:spTree>
    <p:extLst>
      <p:ext uri="{BB962C8B-B14F-4D97-AF65-F5344CB8AC3E}">
        <p14:creationId xmlns:p14="http://schemas.microsoft.com/office/powerpoint/2010/main" val="1403052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A0E87-1232-1337-10E7-35B28FFA5B8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E21BA38-C053-038A-D69F-FC397001951D}"/>
              </a:ext>
            </a:extLst>
          </p:cNvPr>
          <p:cNvPicPr>
            <a:picLocks noChangeAspect="1"/>
          </p:cNvPicPr>
          <p:nvPr/>
        </p:nvPicPr>
        <p:blipFill>
          <a:blip r:embed="rId3"/>
          <a:stretch>
            <a:fillRect/>
          </a:stretch>
        </p:blipFill>
        <p:spPr>
          <a:xfrm>
            <a:off x="736155" y="430657"/>
            <a:ext cx="5178425" cy="3674110"/>
          </a:xfrm>
          <a:prstGeom prst="rect">
            <a:avLst/>
          </a:prstGeom>
        </p:spPr>
      </p:pic>
      <p:sp>
        <p:nvSpPr>
          <p:cNvPr id="6" name="TextBox 5">
            <a:extLst>
              <a:ext uri="{FF2B5EF4-FFF2-40B4-BE49-F238E27FC236}">
                <a16:creationId xmlns:a16="http://schemas.microsoft.com/office/drawing/2014/main" id="{53DDB286-4F51-C708-2AD0-4AAA7907998F}"/>
              </a:ext>
            </a:extLst>
          </p:cNvPr>
          <p:cNvSpPr txBox="1"/>
          <p:nvPr/>
        </p:nvSpPr>
        <p:spPr>
          <a:xfrm>
            <a:off x="736155" y="4245602"/>
            <a:ext cx="6094476" cy="369332"/>
          </a:xfrm>
          <a:prstGeom prst="rect">
            <a:avLst/>
          </a:prstGeom>
          <a:noFill/>
        </p:spPr>
        <p:txBody>
          <a:bodyPr wrap="square">
            <a:spAutoFit/>
          </a:bodyPr>
          <a:lstStyle/>
          <a:p>
            <a:pPr>
              <a:buNone/>
            </a:pPr>
            <a:r>
              <a:rPr lang="en-IN" sz="1800" b="1" i="1" dirty="0">
                <a:effectLst/>
                <a:latin typeface="Times New Roman" panose="02020603050405020304" pitchFamily="18" charset="0"/>
                <a:ea typeface="Times New Roman" panose="02020603050405020304" pitchFamily="18" charset="0"/>
              </a:rPr>
              <a:t>Figure 10: Level Detector — CO Attainment Report </a:t>
            </a:r>
            <a:endParaRPr lang="en-IN" sz="16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219C96A1-DA87-5100-8330-545E4A983D54}"/>
              </a:ext>
            </a:extLst>
          </p:cNvPr>
          <p:cNvPicPr>
            <a:picLocks noChangeAspect="1"/>
          </p:cNvPicPr>
          <p:nvPr/>
        </p:nvPicPr>
        <p:blipFill>
          <a:blip r:embed="rId4"/>
          <a:stretch>
            <a:fillRect/>
          </a:stretch>
        </p:blipFill>
        <p:spPr>
          <a:xfrm>
            <a:off x="6442075" y="1386586"/>
            <a:ext cx="5160010" cy="3517900"/>
          </a:xfrm>
          <a:prstGeom prst="rect">
            <a:avLst/>
          </a:prstGeom>
        </p:spPr>
      </p:pic>
      <p:sp>
        <p:nvSpPr>
          <p:cNvPr id="10" name="TextBox 9">
            <a:extLst>
              <a:ext uri="{FF2B5EF4-FFF2-40B4-BE49-F238E27FC236}">
                <a16:creationId xmlns:a16="http://schemas.microsoft.com/office/drawing/2014/main" id="{F9F9A253-517C-7BBF-C6ED-23BB7600C4C4}"/>
              </a:ext>
            </a:extLst>
          </p:cNvPr>
          <p:cNvSpPr txBox="1"/>
          <p:nvPr/>
        </p:nvSpPr>
        <p:spPr>
          <a:xfrm>
            <a:off x="6320790" y="5045321"/>
            <a:ext cx="6094476" cy="646331"/>
          </a:xfrm>
          <a:prstGeom prst="rect">
            <a:avLst/>
          </a:prstGeom>
          <a:noFill/>
        </p:spPr>
        <p:txBody>
          <a:bodyPr wrap="square">
            <a:spAutoFit/>
          </a:bodyPr>
          <a:lstStyle/>
          <a:p>
            <a:r>
              <a:rPr lang="en-IN" sz="1800" b="1" i="1" dirty="0">
                <a:effectLst/>
                <a:latin typeface="Times New Roman" panose="02020603050405020304" pitchFamily="18" charset="0"/>
                <a:ea typeface="Times New Roman" panose="02020603050405020304" pitchFamily="18" charset="0"/>
              </a:rPr>
              <a:t> Figure 11: Feedback Generator — Student Feedback Container </a:t>
            </a:r>
            <a:endParaRPr lang="en-IN" dirty="0"/>
          </a:p>
        </p:txBody>
      </p:sp>
    </p:spTree>
    <p:extLst>
      <p:ext uri="{BB962C8B-B14F-4D97-AF65-F5344CB8AC3E}">
        <p14:creationId xmlns:p14="http://schemas.microsoft.com/office/powerpoint/2010/main" val="1066523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C327-794D-8F61-E497-1FB10E98986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5CB30E8-81FF-4431-A32E-D182BFEEF1D9}"/>
              </a:ext>
            </a:extLst>
          </p:cNvPr>
          <p:cNvPicPr>
            <a:picLocks noChangeAspect="1"/>
          </p:cNvPicPr>
          <p:nvPr/>
        </p:nvPicPr>
        <p:blipFill>
          <a:blip r:embed="rId3"/>
          <a:stretch>
            <a:fillRect/>
          </a:stretch>
        </p:blipFill>
        <p:spPr>
          <a:xfrm>
            <a:off x="843851" y="537083"/>
            <a:ext cx="7952677" cy="3168650"/>
          </a:xfrm>
          <a:prstGeom prst="rect">
            <a:avLst/>
          </a:prstGeom>
        </p:spPr>
      </p:pic>
      <p:sp>
        <p:nvSpPr>
          <p:cNvPr id="5" name="TextBox 4">
            <a:extLst>
              <a:ext uri="{FF2B5EF4-FFF2-40B4-BE49-F238E27FC236}">
                <a16:creationId xmlns:a16="http://schemas.microsoft.com/office/drawing/2014/main" id="{35F3B857-BD38-EE2F-9EB5-9D289D2C279B}"/>
              </a:ext>
            </a:extLst>
          </p:cNvPr>
          <p:cNvSpPr txBox="1"/>
          <p:nvPr/>
        </p:nvSpPr>
        <p:spPr>
          <a:xfrm>
            <a:off x="2562606" y="3904595"/>
            <a:ext cx="6094476" cy="923330"/>
          </a:xfrm>
          <a:prstGeom prst="rect">
            <a:avLst/>
          </a:prstGeom>
          <a:noFill/>
        </p:spPr>
        <p:txBody>
          <a:bodyPr wrap="square">
            <a:spAutoFit/>
          </a:bodyPr>
          <a:lstStyle/>
          <a:p>
            <a:pPr>
              <a:buNone/>
            </a:pPr>
            <a:r>
              <a:rPr lang="en-IN" sz="1800" b="1" i="1" dirty="0">
                <a:effectLst/>
                <a:latin typeface="Times New Roman" panose="02020603050405020304" pitchFamily="18" charset="0"/>
                <a:ea typeface="Times New Roman" panose="02020603050405020304" pitchFamily="18" charset="0"/>
              </a:rPr>
              <a:t> Figure 12: Downloaded Excel Report</a:t>
            </a:r>
            <a:endParaRPr lang="en-IN" sz="1600" dirty="0">
              <a:effectLst/>
              <a:latin typeface="Times New Roman" panose="02020603050405020304" pitchFamily="18" charset="0"/>
              <a:ea typeface="Times New Roman" panose="02020603050405020304" pitchFamily="18" charset="0"/>
            </a:endParaRPr>
          </a:p>
          <a:p>
            <a:pPr>
              <a:buNone/>
            </a:pPr>
            <a:br>
              <a:rPr lang="en-IN" sz="1800" b="1" i="1" dirty="0">
                <a:effectLst/>
                <a:latin typeface="Times New Roman" panose="02020603050405020304" pitchFamily="18" charset="0"/>
                <a:ea typeface="Times New Roman" panose="02020603050405020304" pitchFamily="18" charset="0"/>
              </a:rPr>
            </a:br>
            <a:endParaRPr lang="en-IN" dirty="0"/>
          </a:p>
        </p:txBody>
      </p:sp>
    </p:spTree>
    <p:extLst>
      <p:ext uri="{BB962C8B-B14F-4D97-AF65-F5344CB8AC3E}">
        <p14:creationId xmlns:p14="http://schemas.microsoft.com/office/powerpoint/2010/main" val="523345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a:xfrm>
            <a:off x="1143000" y="0"/>
            <a:ext cx="10360152" cy="914400"/>
          </a:xfrm>
        </p:spPr>
        <p:txBody>
          <a:bodyPr/>
          <a:lstStyle/>
          <a:p>
            <a:pPr algn="ctr"/>
            <a:r>
              <a:rPr lang="en-IN" sz="4400" b="1" spc="-10" dirty="0">
                <a:solidFill>
                  <a:schemeClr val="accent6">
                    <a:lumMod val="10000"/>
                  </a:schemeClr>
                </a:solidFill>
                <a:latin typeface="Times New Roman" panose="02020603050405020304" pitchFamily="18" charset="0"/>
                <a:cs typeface="Times New Roman" panose="02020603050405020304" pitchFamily="18" charset="0"/>
              </a:rPr>
              <a:t>FUTURE</a:t>
            </a:r>
            <a:r>
              <a:rPr lang="en-IN" sz="4400" b="1" spc="-125" dirty="0">
                <a:solidFill>
                  <a:schemeClr val="accent6">
                    <a:lumMod val="10000"/>
                  </a:schemeClr>
                </a:solidFill>
                <a:latin typeface="Times New Roman" panose="02020603050405020304" pitchFamily="18" charset="0"/>
                <a:cs typeface="Times New Roman" panose="02020603050405020304" pitchFamily="18" charset="0"/>
              </a:rPr>
              <a:t>  </a:t>
            </a:r>
            <a:r>
              <a:rPr lang="en-IN" sz="4400" b="1" spc="-25" dirty="0">
                <a:solidFill>
                  <a:schemeClr val="accent6">
                    <a:lumMod val="10000"/>
                  </a:schemeClr>
                </a:solidFill>
                <a:latin typeface="Times New Roman" panose="02020603050405020304" pitchFamily="18" charset="0"/>
                <a:cs typeface="Times New Roman" panose="02020603050405020304" pitchFamily="18" charset="0"/>
              </a:rPr>
              <a:t>DEVELOPMENT</a:t>
            </a:r>
            <a:endParaRPr lang="en-US" sz="4400" b="1" dirty="0">
              <a:solidFill>
                <a:schemeClr val="accent6">
                  <a:lumMod val="10000"/>
                </a:schemeClr>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17</a:t>
            </a:fld>
            <a:endParaRPr lang="en-US" dirty="0"/>
          </a:p>
        </p:txBody>
      </p:sp>
      <p:sp>
        <p:nvSpPr>
          <p:cNvPr id="2" name="Content Placeholder 1">
            <a:extLst>
              <a:ext uri="{FF2B5EF4-FFF2-40B4-BE49-F238E27FC236}">
                <a16:creationId xmlns:a16="http://schemas.microsoft.com/office/drawing/2014/main" id="{276BD9C0-B056-8051-E083-8BD93135EC0F}"/>
              </a:ext>
            </a:extLst>
          </p:cNvPr>
          <p:cNvSpPr>
            <a:spLocks noGrp="1" noChangeArrowheads="1"/>
          </p:cNvSpPr>
          <p:nvPr>
            <p:ph sz="quarter" idx="12"/>
          </p:nvPr>
        </p:nvSpPr>
        <p:spPr bwMode="auto">
          <a:xfrm>
            <a:off x="559505" y="1253912"/>
            <a:ext cx="10794295"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accent6">
                    <a:lumMod val="10000"/>
                  </a:schemeClr>
                </a:solidFill>
                <a:effectLst/>
                <a:latin typeface="Times New Roman" panose="02020603050405020304" pitchFamily="18" charset="0"/>
                <a:cs typeface="Times New Roman" panose="02020603050405020304" pitchFamily="18" charset="0"/>
              </a:rPr>
              <a:t>Expand to all semesters (1 to 6) and all exam types — Mid Term and End Term </a:t>
            </a:r>
            <a:endParaRPr lang="en-US" altLang="en-US" dirty="0">
              <a:solidFill>
                <a:schemeClr val="accent6">
                  <a:lumMod val="10000"/>
                </a:schemeClr>
              </a:solidFill>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accent6">
                  <a:lumMod val="10000"/>
                </a:schemeClr>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accent6">
                    <a:lumMod val="10000"/>
                  </a:schemeClr>
                </a:solidFill>
                <a:effectLst/>
                <a:latin typeface="Times New Roman" panose="02020603050405020304" pitchFamily="18" charset="0"/>
                <a:cs typeface="Times New Roman" panose="02020603050405020304" pitchFamily="18" charset="0"/>
              </a:rPr>
              <a:t>Deploy on cloud server so teachers can access from anywhere without local setup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accent6">
                  <a:lumMod val="10000"/>
                </a:schemeClr>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accent6">
                    <a:lumMod val="10000"/>
                  </a:schemeClr>
                </a:solidFill>
                <a:effectLst/>
                <a:latin typeface="Times New Roman" panose="02020603050405020304" pitchFamily="18" charset="0"/>
                <a:cs typeface="Times New Roman" panose="02020603050405020304" pitchFamily="18" charset="0"/>
              </a:rPr>
              <a:t>Add student login portal so students can view their own results and AI feedback directly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accent6">
                  <a:lumMod val="10000"/>
                </a:schemeClr>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accent6">
                    <a:lumMod val="10000"/>
                  </a:schemeClr>
                </a:solidFill>
                <a:effectLst/>
                <a:latin typeface="Times New Roman" panose="02020603050405020304" pitchFamily="18" charset="0"/>
                <a:cs typeface="Times New Roman" panose="02020603050405020304" pitchFamily="18" charset="0"/>
              </a:rPr>
              <a:t>Add analytics dashboard showing class-wise performance and subject-wise weak areas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accent6">
                  <a:lumMod val="10000"/>
                </a:schemeClr>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accent6">
                    <a:lumMod val="10000"/>
                  </a:schemeClr>
                </a:solidFill>
                <a:effectLst/>
                <a:latin typeface="Times New Roman" panose="02020603050405020304" pitchFamily="18" charset="0"/>
                <a:cs typeface="Times New Roman" panose="02020603050405020304" pitchFamily="18" charset="0"/>
              </a:rPr>
              <a:t>Mobile app version for easier access on phones and tablets </a:t>
            </a:r>
          </a:p>
        </p:txBody>
      </p:sp>
    </p:spTree>
    <p:extLst>
      <p:ext uri="{BB962C8B-B14F-4D97-AF65-F5344CB8AC3E}">
        <p14:creationId xmlns:p14="http://schemas.microsoft.com/office/powerpoint/2010/main" val="537809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EF9D1-EE75-A672-B4B3-7B3E564A1CEA}"/>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8F64E8B8-DA81-C254-D26F-BA932C9C105E}"/>
              </a:ext>
            </a:extLst>
          </p:cNvPr>
          <p:cNvSpPr>
            <a:spLocks noGrp="1"/>
          </p:cNvSpPr>
          <p:nvPr>
            <p:ph type="title"/>
          </p:nvPr>
        </p:nvSpPr>
        <p:spPr>
          <a:xfrm>
            <a:off x="1143000" y="0"/>
            <a:ext cx="8741664" cy="777240"/>
          </a:xfrm>
        </p:spPr>
        <p:txBody>
          <a:bodyPr/>
          <a:lstStyle/>
          <a:p>
            <a:pPr algn="ctr"/>
            <a:r>
              <a:rPr lang="en-US" sz="4400" b="1" dirty="0">
                <a:solidFill>
                  <a:schemeClr val="accent6">
                    <a:lumMod val="10000"/>
                  </a:schemeClr>
                </a:solidFill>
                <a:latin typeface="Times New Roman" panose="02020603050405020304" pitchFamily="18" charset="0"/>
                <a:cs typeface="Times New Roman" panose="02020603050405020304" pitchFamily="18" charset="0"/>
              </a:rPr>
              <a:t>LEARNING OUTCOMES </a:t>
            </a:r>
          </a:p>
        </p:txBody>
      </p:sp>
      <p:sp>
        <p:nvSpPr>
          <p:cNvPr id="5" name="Slide Number Placeholder 4">
            <a:extLst>
              <a:ext uri="{FF2B5EF4-FFF2-40B4-BE49-F238E27FC236}">
                <a16:creationId xmlns:a16="http://schemas.microsoft.com/office/drawing/2014/main" id="{ADC3918F-EC38-5A49-1639-03BB37276BD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18</a:t>
            </a:fld>
            <a:endParaRPr lang="en-US" dirty="0"/>
          </a:p>
        </p:txBody>
      </p:sp>
      <p:sp>
        <p:nvSpPr>
          <p:cNvPr id="6" name="TextBox 5">
            <a:extLst>
              <a:ext uri="{FF2B5EF4-FFF2-40B4-BE49-F238E27FC236}">
                <a16:creationId xmlns:a16="http://schemas.microsoft.com/office/drawing/2014/main" id="{A7D7B464-86C1-6428-6B63-5F1B228A998C}"/>
              </a:ext>
            </a:extLst>
          </p:cNvPr>
          <p:cNvSpPr txBox="1"/>
          <p:nvPr/>
        </p:nvSpPr>
        <p:spPr>
          <a:xfrm>
            <a:off x="147066" y="457200"/>
            <a:ext cx="11868150" cy="6794168"/>
          </a:xfrm>
          <a:prstGeom prst="rect">
            <a:avLst/>
          </a:prstGeom>
          <a:noFill/>
        </p:spPr>
        <p:txBody>
          <a:bodyPr wrap="square">
            <a:spAutoFit/>
          </a:bodyPr>
          <a:lstStyle/>
          <a:p>
            <a:pPr marL="267335" indent="-267335">
              <a:spcBef>
                <a:spcPts val="290"/>
              </a:spcBef>
              <a:buNone/>
              <a:tabLst>
                <a:tab pos="267335" algn="l"/>
              </a:tabLst>
            </a:pPr>
            <a:r>
              <a:rPr lang="en-US" b="1" spc="-10" dirty="0">
                <a:solidFill>
                  <a:srgbClr val="000000"/>
                </a:solidFill>
                <a:effectLst/>
                <a:latin typeface="Times New Roman" panose="02020603050405020304" pitchFamily="18" charset="0"/>
                <a:ea typeface="Times New Roman" panose="02020603050405020304" pitchFamily="18" charset="0"/>
              </a:rPr>
              <a:t> </a:t>
            </a:r>
            <a:endParaRPr lang="en-IN" b="1" dirty="0">
              <a:solidFill>
                <a:srgbClr val="000000"/>
              </a:solidFill>
              <a:effectLst/>
              <a:latin typeface="Times New Roman" panose="02020603050405020304" pitchFamily="18" charset="0"/>
              <a:ea typeface="Times New Roman" panose="02020603050405020304" pitchFamily="18" charset="0"/>
            </a:endParaRPr>
          </a:p>
          <a:p>
            <a:pPr lvl="0" algn="just">
              <a:spcBef>
                <a:spcPts val="290"/>
              </a:spcBef>
              <a:tabLst>
                <a:tab pos="267335" algn="l"/>
              </a:tabLst>
            </a:pPr>
            <a:r>
              <a:rPr lang="en-IN" sz="1600" b="1" dirty="0">
                <a:solidFill>
                  <a:srgbClr val="000000"/>
                </a:solidFill>
                <a:effectLst/>
                <a:latin typeface="Times New Roman" panose="02020603050405020304" pitchFamily="18" charset="0"/>
                <a:ea typeface="Times New Roman" panose="02020603050405020304" pitchFamily="18" charset="0"/>
              </a:rPr>
              <a:t>1. Python Programming </a:t>
            </a:r>
          </a:p>
          <a:p>
            <a:pPr marL="457200" algn="just"/>
            <a:r>
              <a:rPr lang="en-IN" sz="1600" dirty="0">
                <a:solidFill>
                  <a:srgbClr val="000000"/>
                </a:solidFill>
                <a:effectLst/>
                <a:latin typeface="Times New Roman" panose="02020603050405020304" pitchFamily="18" charset="0"/>
                <a:ea typeface="Times New Roman" panose="02020603050405020304" pitchFamily="18" charset="0"/>
              </a:rPr>
              <a:t>Proficiency in Python improved significantly, especially in writing clean backend logic,</a:t>
            </a:r>
          </a:p>
          <a:p>
            <a:pPr marL="457200" algn="just"/>
            <a:r>
              <a:rPr lang="en-IN" sz="1600" dirty="0">
                <a:solidFill>
                  <a:srgbClr val="000000"/>
                </a:solidFill>
                <a:effectLst/>
                <a:latin typeface="Times New Roman" panose="02020603050405020304" pitchFamily="18" charset="0"/>
                <a:ea typeface="Times New Roman" panose="02020603050405020304" pitchFamily="18" charset="0"/>
              </a:rPr>
              <a:t>handling file uploads, processing API responses, and managing database operations.</a:t>
            </a:r>
          </a:p>
          <a:p>
            <a:pPr algn="just">
              <a:spcBef>
                <a:spcPts val="290"/>
              </a:spcBef>
              <a:tabLst>
                <a:tab pos="267335" algn="l"/>
              </a:tabLst>
            </a:pPr>
            <a:r>
              <a:rPr lang="en-IN" sz="1600" b="1" dirty="0">
                <a:solidFill>
                  <a:srgbClr val="000000"/>
                </a:solidFill>
                <a:effectLst/>
                <a:latin typeface="Times New Roman" panose="02020603050405020304" pitchFamily="18" charset="0"/>
                <a:ea typeface="Times New Roman" panose="02020603050405020304" pitchFamily="18" charset="0"/>
              </a:rPr>
              <a:t> </a:t>
            </a:r>
          </a:p>
          <a:p>
            <a:pPr lvl="0" algn="just">
              <a:spcBef>
                <a:spcPts val="290"/>
              </a:spcBef>
              <a:tabLst>
                <a:tab pos="267335" algn="l"/>
              </a:tabLst>
            </a:pPr>
            <a:r>
              <a:rPr lang="en-IN" sz="1600" b="1" dirty="0">
                <a:solidFill>
                  <a:srgbClr val="000000"/>
                </a:solidFill>
                <a:effectLst/>
                <a:latin typeface="Times New Roman" panose="02020603050405020304" pitchFamily="18" charset="0"/>
                <a:ea typeface="Times New Roman" panose="02020603050405020304" pitchFamily="18" charset="0"/>
              </a:rPr>
              <a:t>2. Flask Framework </a:t>
            </a:r>
          </a:p>
          <a:p>
            <a:pPr marL="457200" algn="just"/>
            <a:r>
              <a:rPr lang="en-IN" sz="1600" dirty="0">
                <a:solidFill>
                  <a:srgbClr val="000000"/>
                </a:solidFill>
                <a:effectLst/>
                <a:latin typeface="Times New Roman" panose="02020603050405020304" pitchFamily="18" charset="0"/>
                <a:ea typeface="Times New Roman" panose="02020603050405020304" pitchFamily="18" charset="0"/>
              </a:rPr>
              <a:t>Gained hands-on experience in building a complete web application using Flask, including   setting up routes, managing user sessions, handling GET and POST requests, and connecting frontend forms to backend logic.</a:t>
            </a:r>
          </a:p>
          <a:p>
            <a:pPr algn="just"/>
            <a:r>
              <a:rPr lang="en-IN" sz="1600" dirty="0">
                <a:solidFill>
                  <a:srgbClr val="000000"/>
                </a:solidFill>
                <a:effectLst/>
                <a:latin typeface="Times New Roman" panose="02020603050405020304" pitchFamily="18" charset="0"/>
                <a:ea typeface="Times New Roman" panose="02020603050405020304" pitchFamily="18" charset="0"/>
              </a:rPr>
              <a:t> </a:t>
            </a:r>
          </a:p>
          <a:p>
            <a:pPr lvl="0" algn="just">
              <a:spcBef>
                <a:spcPts val="290"/>
              </a:spcBef>
              <a:tabLst>
                <a:tab pos="267335" algn="l"/>
              </a:tabLst>
            </a:pPr>
            <a:r>
              <a:rPr lang="en-IN" sz="1600" b="1" dirty="0">
                <a:solidFill>
                  <a:srgbClr val="000000"/>
                </a:solidFill>
                <a:effectLst/>
                <a:latin typeface="Times New Roman" panose="02020603050405020304" pitchFamily="18" charset="0"/>
                <a:ea typeface="Times New Roman" panose="02020603050405020304" pitchFamily="18" charset="0"/>
              </a:rPr>
              <a:t>3. AI and Generative AI </a:t>
            </a:r>
          </a:p>
          <a:p>
            <a:pPr marL="457200" algn="just"/>
            <a:r>
              <a:rPr lang="en-IN" sz="1600" dirty="0">
                <a:solidFill>
                  <a:srgbClr val="000000"/>
                </a:solidFill>
                <a:effectLst/>
                <a:latin typeface="Times New Roman" panose="02020603050405020304" pitchFamily="18" charset="0"/>
                <a:ea typeface="Times New Roman" panose="02020603050405020304" pitchFamily="18" charset="0"/>
              </a:rPr>
              <a:t>Learned to integrate Google Gemini 2.0 Flash API for real tasks — using Vision AI to read images, crafting effective prompts for each agent, and parsing structured AI responses.</a:t>
            </a:r>
          </a:p>
          <a:p>
            <a:pPr algn="just"/>
            <a:r>
              <a:rPr lang="en-IN" sz="1600" dirty="0">
                <a:solidFill>
                  <a:srgbClr val="000000"/>
                </a:solidFill>
                <a:effectLst/>
                <a:latin typeface="Times New Roman" panose="02020603050405020304" pitchFamily="18" charset="0"/>
                <a:ea typeface="Times New Roman" panose="02020603050405020304" pitchFamily="18" charset="0"/>
              </a:rPr>
              <a:t> </a:t>
            </a:r>
          </a:p>
          <a:p>
            <a:pPr lvl="0" algn="just">
              <a:spcBef>
                <a:spcPts val="290"/>
              </a:spcBef>
              <a:tabLst>
                <a:tab pos="267335" algn="l"/>
              </a:tabLst>
            </a:pPr>
            <a:r>
              <a:rPr lang="en-IN" sz="1600" b="1" dirty="0">
                <a:solidFill>
                  <a:srgbClr val="000000"/>
                </a:solidFill>
                <a:effectLst/>
                <a:latin typeface="Times New Roman" panose="02020603050405020304" pitchFamily="18" charset="0"/>
                <a:ea typeface="Times New Roman" panose="02020603050405020304" pitchFamily="18" charset="0"/>
              </a:rPr>
              <a:t>4. Multi-Agent System Design </a:t>
            </a:r>
          </a:p>
          <a:p>
            <a:pPr marL="457200" algn="just"/>
            <a:r>
              <a:rPr lang="en-IN" sz="1600" dirty="0">
                <a:solidFill>
                  <a:srgbClr val="000000"/>
                </a:solidFill>
                <a:effectLst/>
                <a:latin typeface="Times New Roman" panose="02020603050405020304" pitchFamily="18" charset="0"/>
                <a:ea typeface="Times New Roman" panose="02020603050405020304" pitchFamily="18" charset="0"/>
              </a:rPr>
              <a:t>Understood how to break a complex task into smaller specialized agents, each with a focused role, and how to combine their outputs for a final result.</a:t>
            </a:r>
          </a:p>
          <a:p>
            <a:pPr algn="just"/>
            <a:r>
              <a:rPr lang="en-IN" sz="1600" dirty="0">
                <a:solidFill>
                  <a:srgbClr val="000000"/>
                </a:solidFill>
                <a:effectLst/>
                <a:latin typeface="Times New Roman" panose="02020603050405020304" pitchFamily="18" charset="0"/>
                <a:ea typeface="Times New Roman" panose="02020603050405020304" pitchFamily="18" charset="0"/>
              </a:rPr>
              <a:t> </a:t>
            </a:r>
          </a:p>
          <a:p>
            <a:pPr lvl="0" algn="just">
              <a:spcBef>
                <a:spcPts val="290"/>
              </a:spcBef>
              <a:tabLst>
                <a:tab pos="267335" algn="l"/>
              </a:tabLst>
            </a:pPr>
            <a:r>
              <a:rPr lang="en-IN" sz="1600" b="1" dirty="0">
                <a:solidFill>
                  <a:srgbClr val="000000"/>
                </a:solidFill>
                <a:effectLst/>
                <a:latin typeface="Times New Roman" panose="02020603050405020304" pitchFamily="18" charset="0"/>
                <a:ea typeface="Times New Roman" panose="02020603050405020304" pitchFamily="18" charset="0"/>
              </a:rPr>
              <a:t>5. Explainable AI (XAI) </a:t>
            </a:r>
          </a:p>
          <a:p>
            <a:pPr marL="457200" algn="just"/>
            <a:r>
              <a:rPr lang="en-IN" sz="1600" dirty="0">
                <a:solidFill>
                  <a:srgbClr val="000000"/>
                </a:solidFill>
                <a:effectLst/>
                <a:latin typeface="Times New Roman" panose="02020603050405020304" pitchFamily="18" charset="0"/>
                <a:ea typeface="Times New Roman" panose="02020603050405020304" pitchFamily="18" charset="0"/>
              </a:rPr>
              <a:t>Learned the importance of making AI decisions transparent and how to design prompts that return not just scores but reasons, so teachers can understand and trust the system.</a:t>
            </a:r>
          </a:p>
          <a:p>
            <a:pPr algn="just"/>
            <a:r>
              <a:rPr lang="en-IN" sz="1600" dirty="0">
                <a:solidFill>
                  <a:srgbClr val="000000"/>
                </a:solidFill>
                <a:effectLst/>
                <a:latin typeface="Times New Roman" panose="02020603050405020304" pitchFamily="18" charset="0"/>
                <a:ea typeface="Times New Roman" panose="02020603050405020304" pitchFamily="18" charset="0"/>
              </a:rPr>
              <a:t> </a:t>
            </a:r>
          </a:p>
          <a:p>
            <a:pPr lvl="0" algn="just">
              <a:spcBef>
                <a:spcPts val="290"/>
              </a:spcBef>
              <a:tabLst>
                <a:tab pos="267335" algn="l"/>
              </a:tabLst>
            </a:pPr>
            <a:r>
              <a:rPr lang="en-IN" sz="1600" b="1" dirty="0">
                <a:solidFill>
                  <a:srgbClr val="000000"/>
                </a:solidFill>
                <a:effectLst/>
                <a:latin typeface="Times New Roman" panose="02020603050405020304" pitchFamily="18" charset="0"/>
                <a:ea typeface="Times New Roman" panose="02020603050405020304" pitchFamily="18" charset="0"/>
              </a:rPr>
              <a:t>6. Database Management </a:t>
            </a:r>
          </a:p>
          <a:p>
            <a:pPr marL="457200" algn="just"/>
            <a:r>
              <a:rPr lang="en-IN" sz="1600" dirty="0">
                <a:solidFill>
                  <a:srgbClr val="000000"/>
                </a:solidFill>
                <a:effectLst/>
                <a:latin typeface="Times New Roman" panose="02020603050405020304" pitchFamily="18" charset="0"/>
                <a:ea typeface="Times New Roman" panose="02020603050405020304" pitchFamily="18" charset="0"/>
              </a:rPr>
              <a:t>Gained experience in designing SQLite database tables, writing queries for insert and select operations, and managing relational data across multiple tables.</a:t>
            </a:r>
          </a:p>
          <a:p>
            <a:pPr marL="457200" algn="just">
              <a:buNone/>
            </a:pPr>
            <a:r>
              <a:rPr lang="en-IN" sz="1600" dirty="0">
                <a:solidFill>
                  <a:srgbClr val="000000"/>
                </a:solidFill>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1989725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title"/>
          </p:nvPr>
        </p:nvSpPr>
        <p:spPr>
          <a:xfrm>
            <a:off x="914399" y="-114300"/>
            <a:ext cx="10360152" cy="914400"/>
          </a:xfrm>
        </p:spPr>
        <p:txBody>
          <a:bodyPr/>
          <a:lstStyle/>
          <a:p>
            <a:pPr algn="ctr"/>
            <a:r>
              <a:rPr lang="en-IN" sz="4400" b="1" spc="-50" dirty="0">
                <a:solidFill>
                  <a:srgbClr val="000000"/>
                </a:solidFill>
                <a:latin typeface="Times New Roman" panose="02020603050405020304" pitchFamily="18" charset="0"/>
                <a:cs typeface="Times New Roman" panose="02020603050405020304" pitchFamily="18" charset="0"/>
              </a:rPr>
              <a:t>CONCLUSION</a:t>
            </a:r>
            <a:endParaRPr lang="en-US" sz="4400" b="1" dirty="0">
              <a:solidFill>
                <a:srgbClr val="0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4B0F3C-5228-C9FB-1212-1D4894C80B46}"/>
              </a:ext>
            </a:extLst>
          </p:cNvPr>
          <p:cNvSpPr>
            <a:spLocks noGrp="1"/>
          </p:cNvSpPr>
          <p:nvPr>
            <p:ph sz="quarter" idx="13"/>
          </p:nvPr>
        </p:nvSpPr>
        <p:spPr>
          <a:xfrm>
            <a:off x="176784" y="1095354"/>
            <a:ext cx="11911584" cy="5076845"/>
          </a:xfrm>
        </p:spPr>
        <p:txBody>
          <a:bodyPr>
            <a:normAutofit/>
          </a:bodyPr>
          <a:lstStyle/>
          <a:p>
            <a:pPr marL="0" indent="0" algn="just">
              <a:buNone/>
            </a:pPr>
            <a:r>
              <a:rPr lang="en-US" sz="1600" dirty="0">
                <a:solidFill>
                  <a:srgbClr val="000000"/>
                </a:solidFill>
                <a:latin typeface="Times New Roman" panose="02020603050405020304" pitchFamily="18" charset="0"/>
                <a:cs typeface="Times New Roman" panose="02020603050405020304" pitchFamily="18" charset="0"/>
              </a:rPr>
              <a:t>The development of the Multi-Agent AI Assessment System represents a significant step towards automating and improving the quality of academic evaluation at IIS (Deemed to be University). By combining Vision AI, four specialized AI agents, and Explainable AI features, the system provides teachers with fast, consistent, and transparent question paper analysis and student answer evaluation. The use of Bloom's Taxonomy detection ensures that question papers maintain academic quality, while the multi-agent evaluation pipeline ensures that student answers are assessed on both keyword coverage and deeper understanding. </a:t>
            </a:r>
          </a:p>
          <a:p>
            <a:pPr marL="0" indent="0" algn="just">
              <a:buNone/>
            </a:pPr>
            <a:endParaRPr lang="en-US" sz="1600" dirty="0">
              <a:solidFill>
                <a:srgbClr val="000000"/>
              </a:solidFill>
              <a:latin typeface="Times New Roman" panose="02020603050405020304" pitchFamily="18" charset="0"/>
              <a:cs typeface="Times New Roman" panose="02020603050405020304" pitchFamily="18" charset="0"/>
            </a:endParaRPr>
          </a:p>
          <a:p>
            <a:pPr marL="0" indent="0" algn="just">
              <a:buNone/>
            </a:pPr>
            <a:r>
              <a:rPr lang="en-US" sz="1600" dirty="0">
                <a:solidFill>
                  <a:srgbClr val="000000"/>
                </a:solidFill>
                <a:latin typeface="Times New Roman" panose="02020603050405020304" pitchFamily="18" charset="0"/>
                <a:cs typeface="Times New Roman" panose="02020603050405020304" pitchFamily="18" charset="0"/>
              </a:rPr>
              <a:t>The human-AI collaboration feature, where teachers can override AI marks and add feedback, ensures that the final decision always remains with the teacher. This project serves as a model for how AI can be used responsibly and transparently in educational assessment.</a:t>
            </a:r>
            <a:endParaRPr lang="en-IN" sz="1600" dirty="0">
              <a:solidFill>
                <a:srgbClr val="000000"/>
              </a:solidFill>
              <a:latin typeface="Times New Roman" panose="02020603050405020304" pitchFamily="18" charset="0"/>
              <a:cs typeface="Times New Roman" panose="02020603050405020304" pitchFamily="18" charset="0"/>
            </a:endParaRPr>
          </a:p>
          <a:p>
            <a:pPr marL="0" indent="0" algn="just">
              <a:buNone/>
            </a:pPr>
            <a:endParaRPr lang="en-IN" sz="1600" dirty="0">
              <a:solidFill>
                <a:srgbClr val="000000"/>
              </a:solidFill>
              <a:latin typeface="Times New Roman" panose="02020603050405020304" pitchFamily="18" charset="0"/>
              <a:cs typeface="Times New Roman" panose="02020603050405020304" pitchFamily="18" charset="0"/>
            </a:endParaRPr>
          </a:p>
          <a:p>
            <a:pPr marL="0" indent="0" algn="just">
              <a:buNone/>
            </a:pPr>
            <a:r>
              <a:rPr lang="en-US" sz="1600" dirty="0">
                <a:solidFill>
                  <a:srgbClr val="000000"/>
                </a:solidFill>
                <a:latin typeface="Times New Roman" panose="02020603050405020304" pitchFamily="18" charset="0"/>
                <a:cs typeface="Times New Roman" panose="02020603050405020304" pitchFamily="18" charset="0"/>
              </a:rPr>
              <a:t>IIS Edu Grade AI shows how AI can improve academic assessment when used thoughtfully in a university setting. By combining Vision AI, a four-agent evaluation pipeline, Bloom's Taxonomy detection, and NBA-aligned CO attainment tracking, the system provides fair and consistent results for both teachers and students. Teachers get clear insights into question quality and student performance. Students can log in independently and view their personalized feedback. This system is a practical step toward outcome-based, data-driven education at IIS University.</a:t>
            </a:r>
            <a:endParaRPr lang="en-IN" sz="1600" dirty="0">
              <a:solidFill>
                <a:srgbClr val="000000"/>
              </a:solidFill>
              <a:latin typeface="Times New Roman" panose="02020603050405020304" pitchFamily="18" charset="0"/>
              <a:cs typeface="Times New Roman" panose="02020603050405020304" pitchFamily="18" charset="0"/>
            </a:endParaRPr>
          </a:p>
          <a:p>
            <a:pPr marL="0" indent="0" algn="just">
              <a:buNone/>
            </a:pPr>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4132147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4F88F8-17E5-45E3-77B1-77FACD99FF63}"/>
              </a:ext>
            </a:extLst>
          </p:cNvPr>
          <p:cNvSpPr>
            <a:spLocks noGrp="1"/>
          </p:cNvSpPr>
          <p:nvPr>
            <p:ph type="title"/>
          </p:nvPr>
        </p:nvSpPr>
        <p:spPr>
          <a:xfrm>
            <a:off x="915924" y="0"/>
            <a:ext cx="10360152" cy="914400"/>
          </a:xfrm>
        </p:spPr>
        <p:txBody>
          <a:bodyPr/>
          <a:lstStyle/>
          <a:p>
            <a:pPr algn="ctr"/>
            <a:r>
              <a:rPr lang="en-IN" spc="-65" dirty="0"/>
              <a:t>  </a:t>
            </a:r>
            <a:r>
              <a:rPr lang="en-IN" sz="4800" b="1" spc="-65" dirty="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D2469ED-926E-7CEE-5AF2-BF9AC726D01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20</a:t>
            </a:fld>
            <a:endParaRPr lang="en-US" dirty="0"/>
          </a:p>
        </p:txBody>
      </p:sp>
      <p:sp>
        <p:nvSpPr>
          <p:cNvPr id="5" name="TextBox 4">
            <a:extLst>
              <a:ext uri="{FF2B5EF4-FFF2-40B4-BE49-F238E27FC236}">
                <a16:creationId xmlns:a16="http://schemas.microsoft.com/office/drawing/2014/main" id="{357BF5E2-E2BA-EEA4-2F59-7E51E8A4C60B}"/>
              </a:ext>
            </a:extLst>
          </p:cNvPr>
          <p:cNvSpPr txBox="1"/>
          <p:nvPr/>
        </p:nvSpPr>
        <p:spPr>
          <a:xfrm>
            <a:off x="739140" y="1098805"/>
            <a:ext cx="10873740" cy="4524315"/>
          </a:xfrm>
          <a:prstGeom prst="rect">
            <a:avLst/>
          </a:prstGeom>
          <a:noFill/>
        </p:spPr>
        <p:txBody>
          <a:bodyPr wrap="square" rtlCol="0">
            <a:spAutoFit/>
          </a:bodyPr>
          <a:lstStyle/>
          <a:p>
            <a:pPr lvl="0"/>
            <a:r>
              <a:rPr lang="en-IN" sz="2400" dirty="0">
                <a:latin typeface="Times New Roman" panose="02020603050405020304" pitchFamily="18" charset="0"/>
                <a:cs typeface="Times New Roman" panose="02020603050405020304" pitchFamily="18" charset="0"/>
              </a:rPr>
              <a:t>1. Anderson, L. W., &amp; Krathwohl, D. R. (2001). A Taxonomy for Learning, Teaching, and Assessing: A Revision of Bloom's Taxonomy of Educational Objectives. Longman. </a:t>
            </a:r>
          </a:p>
          <a:p>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2. Google Gemini API Documentation. (2024). Google AI for Developers. </a:t>
            </a:r>
            <a:r>
              <a:rPr lang="en-IN" sz="2400" u="sng" dirty="0">
                <a:latin typeface="Times New Roman" panose="02020603050405020304" pitchFamily="18" charset="0"/>
                <a:cs typeface="Times New Roman" panose="02020603050405020304" pitchFamily="18" charset="0"/>
                <a:hlinkClick r:id="rId3"/>
              </a:rPr>
              <a:t>https://ai.google.dev/</a:t>
            </a:r>
            <a:r>
              <a:rPr lang="en-IN" sz="24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3. Palomino, M., &amp; Taylor, J. (2022). Automated Assessment Systems in Higher Education: A Review. Journal of Educational Technology, 18(2), 45-60. </a:t>
            </a:r>
          </a:p>
          <a:p>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4. Flask Documentation. (2024). Pallets Projects. </a:t>
            </a:r>
            <a:r>
              <a:rPr lang="en-IN" sz="2400" u="sng" dirty="0">
                <a:latin typeface="Times New Roman" panose="02020603050405020304" pitchFamily="18" charset="0"/>
                <a:cs typeface="Times New Roman" panose="02020603050405020304" pitchFamily="18" charset="0"/>
                <a:hlinkClick r:id="rId4"/>
              </a:rPr>
              <a:t>https://flask.palletsprojects.com/</a:t>
            </a:r>
            <a:r>
              <a:rPr lang="en-IN" sz="24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5. OpenPyXL Documentation. (2024). </a:t>
            </a:r>
            <a:r>
              <a:rPr lang="en-IN" sz="2400" u="sng" dirty="0">
                <a:latin typeface="Times New Roman" panose="02020603050405020304" pitchFamily="18" charset="0"/>
                <a:cs typeface="Times New Roman" panose="02020603050405020304" pitchFamily="18" charset="0"/>
                <a:hlinkClick r:id="rId5"/>
              </a:rPr>
              <a:t>https://openpyxl.readthedocs.io/</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4996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914400" y="914400"/>
            <a:ext cx="10071100" cy="5029200"/>
          </a:xfrm>
        </p:spPr>
        <p:txBody>
          <a:bodyPr/>
          <a:lstStyle/>
          <a:p>
            <a:pPr algn="ctr"/>
            <a:r>
              <a:rPr lang="en-US"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{3164D148-E0EE-48D0-B018-FEC2070CB205}TF1ed9553b-00c4-4092-846a-c8f7f2908f3beecd942f_win32-8e33096c3cfc</Template>
  <TotalTime>3050</TotalTime>
  <Words>2177</Words>
  <Application>Microsoft Office PowerPoint</Application>
  <PresentationFormat>Widescreen</PresentationFormat>
  <Paragraphs>239</Paragraphs>
  <Slides>21</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Courier New</vt:lpstr>
      <vt:lpstr>Gill Sans Nova Light</vt:lpstr>
      <vt:lpstr>Sagona Book</vt:lpstr>
      <vt:lpstr>Times New Roman</vt:lpstr>
      <vt:lpstr>Custom</vt:lpstr>
      <vt:lpstr>PowerPoint Presentation</vt:lpstr>
      <vt:lpstr>PROBLEM  STATEMENT</vt:lpstr>
      <vt:lpstr>Objective</vt:lpstr>
      <vt:lpstr>TOOLS  AND  TECHNOLOGIES</vt:lpstr>
      <vt:lpstr>PowerPoint Presentation</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DEVELOPMENT</vt:lpstr>
      <vt:lpstr>LEARNING OUTCOMES </vt:lpstr>
      <vt:lpstr>CONCLUSION</vt:lpstr>
      <vt:lpstr>  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TEENA SHARMA</dc:creator>
  <cp:lastModifiedBy>TEENA SHARMA</cp:lastModifiedBy>
  <cp:revision>122</cp:revision>
  <dcterms:created xsi:type="dcterms:W3CDTF">2026-05-08T16:52:43Z</dcterms:created>
  <dcterms:modified xsi:type="dcterms:W3CDTF">2026-09-27T10:06:38Z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